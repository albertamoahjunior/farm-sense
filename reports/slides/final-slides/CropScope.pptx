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Montserrat Black"/>
      <p:bold r:id="rId30"/>
      <p:boldItalic r:id="rId31"/>
    </p:embeddedFont>
    <p:embeddedFont>
      <p:font typeface="Lato Black"/>
      <p:bold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Black-boldItalic.fntdata"/><Relationship Id="rId30" Type="http://schemas.openxmlformats.org/officeDocument/2006/relationships/font" Target="fonts/MontserratBlack-bold.fntdata"/><Relationship Id="rId11" Type="http://schemas.openxmlformats.org/officeDocument/2006/relationships/slide" Target="slides/slide5.xml"/><Relationship Id="rId33" Type="http://schemas.openxmlformats.org/officeDocument/2006/relationships/font" Target="fonts/LatoBlack-boldItalic.fntdata"/><Relationship Id="rId10" Type="http://schemas.openxmlformats.org/officeDocument/2006/relationships/slide" Target="slides/slide4.xml"/><Relationship Id="rId32" Type="http://schemas.openxmlformats.org/officeDocument/2006/relationships/font" Target="fonts/LatoBlack-bold.fntdata"/><Relationship Id="rId13" Type="http://schemas.openxmlformats.org/officeDocument/2006/relationships/slide" Target="slides/slide7.xml"/><Relationship Id="rId35" Type="http://schemas.openxmlformats.org/officeDocument/2006/relationships/font" Target="fonts/OpenSans-bold.fntdata"/><Relationship Id="rId12" Type="http://schemas.openxmlformats.org/officeDocument/2006/relationships/slide" Target="slides/slide6.xml"/><Relationship Id="rId34" Type="http://schemas.openxmlformats.org/officeDocument/2006/relationships/font" Target="fonts/OpenSans-regular.fntdata"/><Relationship Id="rId15" Type="http://schemas.openxmlformats.org/officeDocument/2006/relationships/slide" Target="slides/slide9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8.xml"/><Relationship Id="rId36" Type="http://schemas.openxmlformats.org/officeDocument/2006/relationships/font" Target="fonts/Open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c7ad01711c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2c7ad01711c_1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c7ad01711c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2c7ad01711c_1_1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c7ad01711c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2c7ad01711c_1_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c824b2df4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2c824b2df44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f510d8a03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1f510d8a031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f510d8a03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1f510d8a031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f510d8a03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1f510d8a031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f510d8a031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1f510d8a031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f510d8a03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1f510d8a031_0_1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f510d8a031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1f510d8a031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f510d8a03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1f510d8a031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f510d8a03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1f510d8a031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f510d8a03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1f510d8a031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c7ad01711c_1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2c7ad01711c_1_2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c7ad01711c_1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2c7ad01711c_1_3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-242500" y="3915200"/>
            <a:ext cx="1349375" cy="134937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949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5"/>
          <p:cNvSpPr/>
          <p:nvPr/>
        </p:nvSpPr>
        <p:spPr>
          <a:xfrm>
            <a:off x="514350" y="354538"/>
            <a:ext cx="168672" cy="159812"/>
          </a:xfrm>
          <a:custGeom>
            <a:rect b="b" l="l" r="r" t="t"/>
            <a:pathLst>
              <a:path extrusionOk="0" h="319624" w="337343">
                <a:moveTo>
                  <a:pt x="0" y="0"/>
                </a:moveTo>
                <a:lnTo>
                  <a:pt x="337343" y="0"/>
                </a:lnTo>
                <a:lnTo>
                  <a:pt x="337343" y="319624"/>
                </a:lnTo>
                <a:lnTo>
                  <a:pt x="0" y="31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25"/>
          <p:cNvSpPr/>
          <p:nvPr/>
        </p:nvSpPr>
        <p:spPr>
          <a:xfrm>
            <a:off x="920981" y="3544952"/>
            <a:ext cx="576508" cy="576508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5"/>
          <p:cNvSpPr/>
          <p:nvPr/>
        </p:nvSpPr>
        <p:spPr>
          <a:xfrm rot="10800000">
            <a:off x="7646511" y="692763"/>
            <a:ext cx="576508" cy="576508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5"/>
          <p:cNvSpPr/>
          <p:nvPr/>
        </p:nvSpPr>
        <p:spPr>
          <a:xfrm rot="10800000">
            <a:off x="8078626" y="-449902"/>
            <a:ext cx="1307885" cy="130788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949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/>
          <p:nvPr/>
        </p:nvSpPr>
        <p:spPr>
          <a:xfrm>
            <a:off x="2514600" y="514350"/>
            <a:ext cx="4114800" cy="4114800"/>
          </a:xfrm>
          <a:custGeom>
            <a:rect b="b" l="l" r="r" t="t"/>
            <a:pathLst>
              <a:path extrusionOk="0" h="1708150" w="1708150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5EDB12">
              <a:alpha val="666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5"/>
          <p:cNvSpPr txBox="1"/>
          <p:nvPr/>
        </p:nvSpPr>
        <p:spPr>
          <a:xfrm>
            <a:off x="514350" y="1987771"/>
            <a:ext cx="8115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36" name="Google Shape;136;p25"/>
          <p:cNvSpPr txBox="1"/>
          <p:nvPr/>
        </p:nvSpPr>
        <p:spPr>
          <a:xfrm>
            <a:off x="780179" y="367134"/>
            <a:ext cx="86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EDB12"/>
                </a:solidFill>
                <a:latin typeface="Open Sans"/>
                <a:ea typeface="Open Sans"/>
                <a:cs typeface="Open Sans"/>
                <a:sym typeface="Open Sans"/>
              </a:rPr>
              <a:t>CropScope</a:t>
            </a:r>
            <a:endParaRPr b="1" sz="700">
              <a:solidFill>
                <a:srgbClr val="5EDB12"/>
              </a:solidFill>
            </a:endParaRPr>
          </a:p>
        </p:txBody>
      </p:sp>
      <p:sp>
        <p:nvSpPr>
          <p:cNvPr id="137" name="Google Shape;137;p25"/>
          <p:cNvSpPr/>
          <p:nvPr/>
        </p:nvSpPr>
        <p:spPr>
          <a:xfrm rot="10800000">
            <a:off x="8078625" y="4324442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8078625" y="437935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813750" y="692775"/>
            <a:ext cx="7477200" cy="18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5EDB12"/>
                </a:solidFill>
                <a:latin typeface="Calibri"/>
                <a:ea typeface="Calibri"/>
                <a:cs typeface="Calibri"/>
                <a:sym typeface="Calibri"/>
              </a:rPr>
              <a:t>ALLOCATION OF SENSORS TO MONITOR</a:t>
            </a:r>
            <a:endParaRPr b="1" sz="3000">
              <a:solidFill>
                <a:srgbClr val="5EDB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5EDB12"/>
                </a:solidFill>
                <a:latin typeface="Calibri"/>
                <a:ea typeface="Calibri"/>
                <a:cs typeface="Calibri"/>
                <a:sym typeface="Calibri"/>
              </a:rPr>
              <a:t>VITAL SOIL AND ATMOSPHERIC FACTORS</a:t>
            </a:r>
            <a:endParaRPr b="1" sz="3000">
              <a:solidFill>
                <a:srgbClr val="5EDB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5EDB12"/>
                </a:solidFill>
                <a:latin typeface="Calibri"/>
                <a:ea typeface="Calibri"/>
                <a:cs typeface="Calibri"/>
                <a:sym typeface="Calibri"/>
              </a:rPr>
              <a:t>THAT AFFECT PLANT GROWTH</a:t>
            </a:r>
            <a:endParaRPr b="1" sz="3000">
              <a:solidFill>
                <a:srgbClr val="5EDB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399200" y="3262675"/>
            <a:ext cx="4775100" cy="18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5EDB12"/>
                </a:solidFill>
                <a:latin typeface="Calibri"/>
                <a:ea typeface="Calibri"/>
                <a:cs typeface="Calibri"/>
                <a:sym typeface="Calibri"/>
              </a:rPr>
              <a:t>Amoah Junior Albert - 3022620</a:t>
            </a:r>
            <a:endParaRPr b="1" sz="1800">
              <a:solidFill>
                <a:srgbClr val="5EDB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5EDB12"/>
                </a:solidFill>
                <a:latin typeface="Calibri"/>
                <a:ea typeface="Calibri"/>
                <a:cs typeface="Calibri"/>
                <a:sym typeface="Calibri"/>
              </a:rPr>
              <a:t>Bonney Samuel Nii Awuley - 3028320</a:t>
            </a:r>
            <a:endParaRPr b="1" sz="1800">
              <a:solidFill>
                <a:srgbClr val="5EDB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Law</a:t>
            </a:r>
            <a:r>
              <a:rPr b="1" lang="en" sz="1800">
                <a:solidFill>
                  <a:srgbClr val="5EDB12"/>
                </a:solidFill>
                <a:latin typeface="Calibri"/>
                <a:ea typeface="Calibri"/>
                <a:cs typeface="Calibri"/>
                <a:sym typeface="Calibri"/>
              </a:rPr>
              <a:t>son Isaac Nii Lante - 3033820</a:t>
            </a:r>
            <a:endParaRPr b="1" sz="1800">
              <a:solidFill>
                <a:srgbClr val="5EDB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Akaya</a:t>
            </a:r>
            <a:r>
              <a:rPr b="1" lang="en" sz="1800">
                <a:solidFill>
                  <a:srgbClr val="5EDB12"/>
                </a:solidFill>
                <a:latin typeface="Calibri"/>
                <a:ea typeface="Calibri"/>
                <a:cs typeface="Calibri"/>
                <a:sym typeface="Calibri"/>
              </a:rPr>
              <a:t> Uche Daniel - 8252419</a:t>
            </a:r>
            <a:endParaRPr b="1" sz="1800">
              <a:solidFill>
                <a:srgbClr val="5EDB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Superv</a:t>
            </a:r>
            <a:r>
              <a:rPr b="1" lang="en" sz="1600">
                <a:solidFill>
                  <a:srgbClr val="5EDB12"/>
                </a:solidFill>
                <a:latin typeface="Calibri"/>
                <a:ea typeface="Calibri"/>
                <a:cs typeface="Calibri"/>
                <a:sym typeface="Calibri"/>
              </a:rPr>
              <a:t>ised by: Dipl. -Ing Benjamin Nii Kommey</a:t>
            </a:r>
            <a:endParaRPr b="1" sz="1600">
              <a:solidFill>
                <a:srgbClr val="5EDB1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E08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/>
          <p:nvPr/>
        </p:nvSpPr>
        <p:spPr>
          <a:xfrm>
            <a:off x="0" y="0"/>
            <a:ext cx="9144000" cy="515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46" name="Google Shape;146;p26"/>
          <p:cNvSpPr/>
          <p:nvPr/>
        </p:nvSpPr>
        <p:spPr>
          <a:xfrm>
            <a:off x="514350" y="354538"/>
            <a:ext cx="168672" cy="159812"/>
          </a:xfrm>
          <a:custGeom>
            <a:rect b="b" l="l" r="r" t="t"/>
            <a:pathLst>
              <a:path extrusionOk="0" h="319624" w="337343">
                <a:moveTo>
                  <a:pt x="0" y="0"/>
                </a:moveTo>
                <a:lnTo>
                  <a:pt x="337343" y="0"/>
                </a:lnTo>
                <a:lnTo>
                  <a:pt x="337343" y="319624"/>
                </a:lnTo>
                <a:lnTo>
                  <a:pt x="0" y="31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26"/>
          <p:cNvSpPr txBox="1"/>
          <p:nvPr/>
        </p:nvSpPr>
        <p:spPr>
          <a:xfrm>
            <a:off x="780165" y="824997"/>
            <a:ext cx="339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EDB12"/>
                </a:solidFill>
                <a:latin typeface="Lato Black"/>
                <a:ea typeface="Lato Black"/>
                <a:cs typeface="Lato Black"/>
                <a:sym typeface="Lato Black"/>
              </a:rPr>
              <a:t>OUTLINE</a:t>
            </a:r>
            <a:endParaRPr sz="700">
              <a:solidFill>
                <a:srgbClr val="5EDB1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780179" y="367134"/>
            <a:ext cx="86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EDB12"/>
                </a:solidFill>
                <a:latin typeface="Open Sans"/>
                <a:ea typeface="Open Sans"/>
                <a:cs typeface="Open Sans"/>
                <a:sym typeface="Open Sans"/>
              </a:rPr>
              <a:t>CropScope</a:t>
            </a:r>
            <a:endParaRPr b="1" sz="700">
              <a:solidFill>
                <a:srgbClr val="5EDB12"/>
              </a:solidFill>
            </a:endParaRPr>
          </a:p>
        </p:txBody>
      </p:sp>
      <p:sp>
        <p:nvSpPr>
          <p:cNvPr id="149" name="Google Shape;149;p26"/>
          <p:cNvSpPr/>
          <p:nvPr/>
        </p:nvSpPr>
        <p:spPr>
          <a:xfrm>
            <a:off x="5279640" y="2407536"/>
            <a:ext cx="103956" cy="103956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6"/>
          <p:cNvSpPr/>
          <p:nvPr/>
        </p:nvSpPr>
        <p:spPr>
          <a:xfrm rot="10800000">
            <a:off x="4565151" y="507512"/>
            <a:ext cx="317500" cy="317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3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6"/>
          <p:cNvSpPr/>
          <p:nvPr/>
        </p:nvSpPr>
        <p:spPr>
          <a:xfrm rot="10800000">
            <a:off x="1099265" y="3534376"/>
            <a:ext cx="576508" cy="576508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3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6"/>
          <p:cNvSpPr/>
          <p:nvPr/>
        </p:nvSpPr>
        <p:spPr>
          <a:xfrm rot="10800000">
            <a:off x="8101025" y="4361254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6"/>
          <p:cNvSpPr txBox="1"/>
          <p:nvPr/>
        </p:nvSpPr>
        <p:spPr>
          <a:xfrm>
            <a:off x="8101025" y="441615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6"/>
          <p:cNvSpPr/>
          <p:nvPr/>
        </p:nvSpPr>
        <p:spPr>
          <a:xfrm>
            <a:off x="1427900" y="1444500"/>
            <a:ext cx="1489200" cy="12438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F4B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6"/>
          <p:cNvSpPr/>
          <p:nvPr/>
        </p:nvSpPr>
        <p:spPr>
          <a:xfrm>
            <a:off x="2877675" y="2238625"/>
            <a:ext cx="1489200" cy="12438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ABF47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6"/>
          <p:cNvSpPr/>
          <p:nvPr/>
        </p:nvSpPr>
        <p:spPr>
          <a:xfrm>
            <a:off x="4258375" y="1406050"/>
            <a:ext cx="1489200" cy="12438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F4B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1165247" y="1958703"/>
            <a:ext cx="201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  <a:endParaRPr b="1" sz="1000">
              <a:solidFill>
                <a:srgbClr val="6AA84F"/>
              </a:solidFill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3003376" y="2451025"/>
            <a:ext cx="12378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Review of Existing Technology</a:t>
            </a:r>
            <a:endParaRPr b="1" sz="1000">
              <a:solidFill>
                <a:srgbClr val="6AA84F"/>
              </a:solidFill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4219075" y="1721425"/>
            <a:ext cx="15678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Proposed Methodology</a:t>
            </a:r>
            <a:endParaRPr b="1" sz="1000">
              <a:solidFill>
                <a:srgbClr val="6AA84F"/>
              </a:solidFill>
            </a:endParaRPr>
          </a:p>
        </p:txBody>
      </p:sp>
      <p:sp>
        <p:nvSpPr>
          <p:cNvPr id="160" name="Google Shape;160;p26"/>
          <p:cNvSpPr/>
          <p:nvPr/>
        </p:nvSpPr>
        <p:spPr>
          <a:xfrm>
            <a:off x="5688550" y="2290575"/>
            <a:ext cx="1489200" cy="12438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ABF47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5425897" y="2804766"/>
            <a:ext cx="201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</a:rPr>
              <a:t>Conclusion</a:t>
            </a:r>
            <a:endParaRPr b="1">
              <a:solidFill>
                <a:srgbClr val="6AA84F"/>
              </a:solidFill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8277689" y="-382333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/>
          <p:nvPr/>
        </p:nvSpPr>
        <p:spPr>
          <a:xfrm>
            <a:off x="4143371" y="4002647"/>
            <a:ext cx="857250" cy="825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6"/>
          <p:cNvSpPr/>
          <p:nvPr/>
        </p:nvSpPr>
        <p:spPr>
          <a:xfrm>
            <a:off x="-556961" y="4460642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949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6"/>
          <p:cNvSpPr/>
          <p:nvPr/>
        </p:nvSpPr>
        <p:spPr>
          <a:xfrm>
            <a:off x="871871" y="1068947"/>
            <a:ext cx="857250" cy="825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6"/>
          <p:cNvSpPr/>
          <p:nvPr/>
        </p:nvSpPr>
        <p:spPr>
          <a:xfrm>
            <a:off x="5796803" y="604699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E08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/>
          <p:nvPr/>
        </p:nvSpPr>
        <p:spPr>
          <a:xfrm>
            <a:off x="50" y="0"/>
            <a:ext cx="9144000" cy="519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514350" y="354538"/>
            <a:ext cx="168672" cy="159812"/>
          </a:xfrm>
          <a:custGeom>
            <a:rect b="b" l="l" r="r" t="t"/>
            <a:pathLst>
              <a:path extrusionOk="0" h="319624" w="337343">
                <a:moveTo>
                  <a:pt x="0" y="0"/>
                </a:moveTo>
                <a:lnTo>
                  <a:pt x="337343" y="0"/>
                </a:lnTo>
                <a:lnTo>
                  <a:pt x="337343" y="319624"/>
                </a:lnTo>
                <a:lnTo>
                  <a:pt x="0" y="31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27"/>
          <p:cNvSpPr txBox="1"/>
          <p:nvPr/>
        </p:nvSpPr>
        <p:spPr>
          <a:xfrm>
            <a:off x="780179" y="367134"/>
            <a:ext cx="86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EDB12"/>
                </a:solidFill>
                <a:latin typeface="Open Sans"/>
                <a:ea typeface="Open Sans"/>
                <a:cs typeface="Open Sans"/>
                <a:sym typeface="Open Sans"/>
              </a:rPr>
              <a:t>CropScope</a:t>
            </a:r>
            <a:endParaRPr b="1" sz="700">
              <a:solidFill>
                <a:srgbClr val="5EDB12"/>
              </a:solidFill>
            </a:endParaRPr>
          </a:p>
        </p:txBody>
      </p:sp>
      <p:sp>
        <p:nvSpPr>
          <p:cNvPr id="174" name="Google Shape;174;p27"/>
          <p:cNvSpPr/>
          <p:nvPr/>
        </p:nvSpPr>
        <p:spPr>
          <a:xfrm rot="10800000">
            <a:off x="4532076" y="514350"/>
            <a:ext cx="310651" cy="310651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3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7"/>
          <p:cNvSpPr/>
          <p:nvPr/>
        </p:nvSpPr>
        <p:spPr>
          <a:xfrm rot="10800000">
            <a:off x="5670538" y="4190359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3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7"/>
          <p:cNvSpPr/>
          <p:nvPr/>
        </p:nvSpPr>
        <p:spPr>
          <a:xfrm rot="10800000">
            <a:off x="8195475" y="4384304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7"/>
          <p:cNvSpPr txBox="1"/>
          <p:nvPr/>
        </p:nvSpPr>
        <p:spPr>
          <a:xfrm>
            <a:off x="8195475" y="443920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" name="Google Shape;178;p27"/>
          <p:cNvGrpSpPr/>
          <p:nvPr/>
        </p:nvGrpSpPr>
        <p:grpSpPr>
          <a:xfrm>
            <a:off x="545450" y="1001750"/>
            <a:ext cx="2341500" cy="2794500"/>
            <a:chOff x="3401250" y="1021025"/>
            <a:chExt cx="2341500" cy="2794500"/>
          </a:xfrm>
        </p:grpSpPr>
        <p:sp>
          <p:nvSpPr>
            <p:cNvPr id="179" name="Google Shape;179;p27"/>
            <p:cNvSpPr/>
            <p:nvPr/>
          </p:nvSpPr>
          <p:spPr>
            <a:xfrm>
              <a:off x="3401250" y="1021025"/>
              <a:ext cx="2341500" cy="2794500"/>
            </a:xfrm>
            <a:prstGeom prst="roundRect">
              <a:avLst>
                <a:gd fmla="val 16667" name="adj"/>
              </a:avLst>
            </a:prstGeom>
            <a:solidFill>
              <a:srgbClr val="D0F4BA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7"/>
            <p:cNvSpPr txBox="1"/>
            <p:nvPr/>
          </p:nvSpPr>
          <p:spPr>
            <a:xfrm>
              <a:off x="3521250" y="1174550"/>
              <a:ext cx="2101500" cy="2318400"/>
            </a:xfrm>
            <a:prstGeom prst="rect">
              <a:avLst/>
            </a:prstGeom>
            <a:solidFill>
              <a:srgbClr val="5EDB12">
                <a:alpha val="0"/>
              </a:srgbClr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5EDB12"/>
                  </a:solidFill>
                  <a:latin typeface="Calibri"/>
                  <a:ea typeface="Calibri"/>
                  <a:cs typeface="Calibri"/>
                  <a:sym typeface="Calibri"/>
                </a:rPr>
                <a:t>Problem Statement</a:t>
              </a:r>
              <a:endParaRPr b="1" sz="1800">
                <a:solidFill>
                  <a:srgbClr val="5EDB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rgbClr val="5EDB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5EDB12"/>
                  </a:solidFill>
                  <a:latin typeface="Calibri"/>
                  <a:ea typeface="Calibri"/>
                  <a:cs typeface="Calibri"/>
                  <a:sym typeface="Calibri"/>
                </a:rPr>
                <a:t>Farmers have been providing farm essentials to</a:t>
              </a:r>
              <a:endParaRPr b="1" sz="1300">
                <a:solidFill>
                  <a:srgbClr val="5EDB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5EDB12"/>
                  </a:solidFill>
                  <a:latin typeface="Calibri"/>
                  <a:ea typeface="Calibri"/>
                  <a:cs typeface="Calibri"/>
                  <a:sym typeface="Calibri"/>
                </a:rPr>
                <a:t>crops based on guesswork. They are not able to accurately determine the needs of</a:t>
              </a:r>
              <a:endParaRPr b="1" sz="1300">
                <a:solidFill>
                  <a:srgbClr val="5EDB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5EDB12"/>
                  </a:solidFill>
                  <a:latin typeface="Calibri"/>
                  <a:ea typeface="Calibri"/>
                  <a:cs typeface="Calibri"/>
                  <a:sym typeface="Calibri"/>
                </a:rPr>
                <a:t>the farms.</a:t>
              </a:r>
              <a:endParaRPr b="1" sz="1300">
                <a:solidFill>
                  <a:srgbClr val="5EDB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27"/>
          <p:cNvSpPr/>
          <p:nvPr/>
        </p:nvSpPr>
        <p:spPr>
          <a:xfrm>
            <a:off x="-457461" y="4439192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949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7"/>
          <p:cNvSpPr/>
          <p:nvPr/>
        </p:nvSpPr>
        <p:spPr>
          <a:xfrm>
            <a:off x="8277689" y="-382333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949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7"/>
          <p:cNvSpPr/>
          <p:nvPr/>
        </p:nvSpPr>
        <p:spPr>
          <a:xfrm>
            <a:off x="3939335" y="1996373"/>
            <a:ext cx="1031875" cy="96837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7"/>
          <p:cNvSpPr/>
          <p:nvPr/>
        </p:nvSpPr>
        <p:spPr>
          <a:xfrm>
            <a:off x="5627125" y="474825"/>
            <a:ext cx="1443300" cy="1389600"/>
          </a:xfrm>
          <a:prstGeom prst="ellipse">
            <a:avLst/>
          </a:prstGeom>
          <a:solidFill>
            <a:srgbClr val="D0F4BA"/>
          </a:solidFill>
          <a:ln cap="flat" cmpd="sng" w="9525">
            <a:solidFill>
              <a:srgbClr val="D0F4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27"/>
          <p:cNvCxnSpPr/>
          <p:nvPr/>
        </p:nvCxnSpPr>
        <p:spPr>
          <a:xfrm flipH="1">
            <a:off x="4932800" y="1787775"/>
            <a:ext cx="790800" cy="998100"/>
          </a:xfrm>
          <a:prstGeom prst="straightConnector1">
            <a:avLst/>
          </a:prstGeom>
          <a:noFill/>
          <a:ln cap="flat" cmpd="sng" w="28575">
            <a:solidFill>
              <a:srgbClr val="5EDB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7"/>
          <p:cNvCxnSpPr/>
          <p:nvPr/>
        </p:nvCxnSpPr>
        <p:spPr>
          <a:xfrm>
            <a:off x="6394800" y="1965525"/>
            <a:ext cx="23100" cy="1074900"/>
          </a:xfrm>
          <a:prstGeom prst="straightConnector1">
            <a:avLst/>
          </a:prstGeom>
          <a:noFill/>
          <a:ln cap="flat" cmpd="sng" w="28575">
            <a:solidFill>
              <a:srgbClr val="5EDB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27"/>
          <p:cNvCxnSpPr/>
          <p:nvPr/>
        </p:nvCxnSpPr>
        <p:spPr>
          <a:xfrm>
            <a:off x="6969350" y="1718675"/>
            <a:ext cx="790800" cy="998100"/>
          </a:xfrm>
          <a:prstGeom prst="straightConnector1">
            <a:avLst/>
          </a:prstGeom>
          <a:noFill/>
          <a:ln cap="flat" cmpd="sng" w="28575">
            <a:solidFill>
              <a:srgbClr val="5EDB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p27"/>
          <p:cNvSpPr txBox="1"/>
          <p:nvPr/>
        </p:nvSpPr>
        <p:spPr>
          <a:xfrm>
            <a:off x="5778913" y="889600"/>
            <a:ext cx="13476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EDB12"/>
                </a:solidFill>
                <a:latin typeface="Lato Black"/>
                <a:ea typeface="Lato Black"/>
                <a:cs typeface="Lato Black"/>
                <a:sym typeface="Lato Black"/>
              </a:rPr>
              <a:t>WHY ?</a:t>
            </a:r>
            <a:endParaRPr sz="2500">
              <a:solidFill>
                <a:srgbClr val="5EDB1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4175" y="2848350"/>
            <a:ext cx="729600" cy="7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0325" y="3072425"/>
            <a:ext cx="790800" cy="7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88925" y="2848350"/>
            <a:ext cx="790800" cy="7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E08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>
            <a:off x="50" y="0"/>
            <a:ext cx="9144000" cy="519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514350" y="354538"/>
            <a:ext cx="168672" cy="159812"/>
          </a:xfrm>
          <a:custGeom>
            <a:rect b="b" l="l" r="r" t="t"/>
            <a:pathLst>
              <a:path extrusionOk="0" h="319624" w="337343">
                <a:moveTo>
                  <a:pt x="0" y="0"/>
                </a:moveTo>
                <a:lnTo>
                  <a:pt x="337343" y="0"/>
                </a:lnTo>
                <a:lnTo>
                  <a:pt x="337343" y="319624"/>
                </a:lnTo>
                <a:lnTo>
                  <a:pt x="0" y="31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28"/>
          <p:cNvSpPr txBox="1"/>
          <p:nvPr/>
        </p:nvSpPr>
        <p:spPr>
          <a:xfrm>
            <a:off x="780179" y="367134"/>
            <a:ext cx="86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EDB12"/>
                </a:solidFill>
                <a:latin typeface="Open Sans"/>
                <a:ea typeface="Open Sans"/>
                <a:cs typeface="Open Sans"/>
                <a:sym typeface="Open Sans"/>
              </a:rPr>
              <a:t>CropScope</a:t>
            </a:r>
            <a:endParaRPr b="1" sz="700">
              <a:solidFill>
                <a:srgbClr val="5EDB12"/>
              </a:solidFill>
            </a:endParaRPr>
          </a:p>
        </p:txBody>
      </p:sp>
      <p:sp>
        <p:nvSpPr>
          <p:cNvPr id="199" name="Google Shape;199;p28"/>
          <p:cNvSpPr/>
          <p:nvPr/>
        </p:nvSpPr>
        <p:spPr>
          <a:xfrm rot="10800000">
            <a:off x="4525227" y="507501"/>
            <a:ext cx="317500" cy="317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8"/>
          <p:cNvSpPr/>
          <p:nvPr/>
        </p:nvSpPr>
        <p:spPr>
          <a:xfrm rot="10800000">
            <a:off x="6028613" y="3913984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8"/>
          <p:cNvSpPr/>
          <p:nvPr/>
        </p:nvSpPr>
        <p:spPr>
          <a:xfrm rot="10800000">
            <a:off x="8195475" y="4384304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8"/>
          <p:cNvSpPr txBox="1"/>
          <p:nvPr/>
        </p:nvSpPr>
        <p:spPr>
          <a:xfrm>
            <a:off x="8195475" y="443920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6023600" y="1001750"/>
            <a:ext cx="2341500" cy="2794500"/>
          </a:xfrm>
          <a:prstGeom prst="roundRect">
            <a:avLst>
              <a:gd fmla="val 16667" name="adj"/>
            </a:avLst>
          </a:prstGeom>
          <a:solidFill>
            <a:srgbClr val="D0F4B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5941900" y="1155275"/>
            <a:ext cx="2476800" cy="24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5EDB12"/>
                </a:solidFill>
                <a:latin typeface="Open Sans"/>
                <a:ea typeface="Open Sans"/>
                <a:cs typeface="Open Sans"/>
                <a:sym typeface="Open Sans"/>
              </a:rPr>
              <a:t>Scope</a:t>
            </a:r>
            <a:endParaRPr b="1" sz="600">
              <a:solidFill>
                <a:srgbClr val="5EDB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Calibri"/>
              <a:buChar char="❏"/>
            </a:pPr>
            <a:r>
              <a:rPr b="1" lang="en" sz="1300">
                <a:solidFill>
                  <a:srgbClr val="5EDB12"/>
                </a:solidFill>
                <a:latin typeface="Calibri"/>
                <a:ea typeface="Calibri"/>
                <a:cs typeface="Calibri"/>
                <a:sym typeface="Calibri"/>
              </a:rPr>
              <a:t>Specific Factors</a:t>
            </a:r>
            <a:endParaRPr b="1" sz="1300">
              <a:solidFill>
                <a:srgbClr val="5EDB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Calibri"/>
              <a:buChar char="❏"/>
            </a:pPr>
            <a:r>
              <a:rPr b="1" lang="en" sz="1300">
                <a:solidFill>
                  <a:srgbClr val="5EDB12"/>
                </a:solidFill>
                <a:latin typeface="Calibri"/>
                <a:ea typeface="Calibri"/>
                <a:cs typeface="Calibri"/>
                <a:sym typeface="Calibri"/>
              </a:rPr>
              <a:t>Cloud Service for backend analysis</a:t>
            </a:r>
            <a:endParaRPr b="1" sz="1300">
              <a:solidFill>
                <a:srgbClr val="5EDB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Calibri"/>
              <a:buChar char="❏"/>
            </a:pPr>
            <a:r>
              <a:rPr b="1" lang="en" sz="1300">
                <a:solidFill>
                  <a:srgbClr val="5EDB12"/>
                </a:solidFill>
                <a:latin typeface="Calibri"/>
                <a:ea typeface="Calibri"/>
                <a:cs typeface="Calibri"/>
                <a:sym typeface="Calibri"/>
              </a:rPr>
              <a:t>Wireless Sensor Based Network</a:t>
            </a:r>
            <a:endParaRPr b="1" sz="1300">
              <a:solidFill>
                <a:srgbClr val="5EDB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Calibri"/>
              <a:buChar char="❏"/>
            </a:pPr>
            <a:r>
              <a:rPr b="1" lang="en" sz="1300">
                <a:solidFill>
                  <a:srgbClr val="5EDB12"/>
                </a:solidFill>
                <a:latin typeface="Calibri"/>
                <a:ea typeface="Calibri"/>
                <a:cs typeface="Calibri"/>
                <a:sym typeface="Calibri"/>
              </a:rPr>
              <a:t>Frontend Interface</a:t>
            </a:r>
            <a:endParaRPr b="1" sz="1300">
              <a:solidFill>
                <a:srgbClr val="5EDB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Calibri"/>
              <a:buChar char="❏"/>
            </a:pPr>
            <a:r>
              <a:rPr b="1" lang="en" sz="1300">
                <a:solidFill>
                  <a:srgbClr val="5EDB12"/>
                </a:solidFill>
                <a:latin typeface="Calibri"/>
                <a:ea typeface="Calibri"/>
                <a:cs typeface="Calibri"/>
                <a:sym typeface="Calibri"/>
              </a:rPr>
              <a:t>SMS Service</a:t>
            </a:r>
            <a:endParaRPr b="1" sz="1300">
              <a:solidFill>
                <a:srgbClr val="5EDB1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-457461" y="4439192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8"/>
          <p:cNvSpPr/>
          <p:nvPr/>
        </p:nvSpPr>
        <p:spPr>
          <a:xfrm>
            <a:off x="8277689" y="-382333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8"/>
          <p:cNvSpPr/>
          <p:nvPr/>
        </p:nvSpPr>
        <p:spPr>
          <a:xfrm>
            <a:off x="3939335" y="1996373"/>
            <a:ext cx="1031875" cy="96837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8"/>
          <p:cNvSpPr/>
          <p:nvPr/>
        </p:nvSpPr>
        <p:spPr>
          <a:xfrm rot="-5400000">
            <a:off x="456563" y="1101157"/>
            <a:ext cx="3339000" cy="3339000"/>
          </a:xfrm>
          <a:prstGeom prst="ellipse">
            <a:avLst/>
          </a:prstGeom>
          <a:noFill/>
          <a:ln cap="flat" cmpd="sng" w="19050">
            <a:solidFill>
              <a:srgbClr val="5EDB1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8"/>
          <p:cNvSpPr/>
          <p:nvPr/>
        </p:nvSpPr>
        <p:spPr>
          <a:xfrm>
            <a:off x="677813" y="1322557"/>
            <a:ext cx="2896500" cy="2896200"/>
          </a:xfrm>
          <a:prstGeom prst="pie">
            <a:avLst>
              <a:gd fmla="val 21577108" name="adj1"/>
              <a:gd fmla="val 16214886" name="adj2"/>
            </a:avLst>
          </a:prstGeom>
          <a:solidFill>
            <a:srgbClr val="D0F4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" name="Google Shape;210;p28"/>
          <p:cNvGrpSpPr/>
          <p:nvPr/>
        </p:nvGrpSpPr>
        <p:grpSpPr>
          <a:xfrm>
            <a:off x="1218113" y="1862707"/>
            <a:ext cx="1815900" cy="1815900"/>
            <a:chOff x="3664038" y="1663782"/>
            <a:chExt cx="1815900" cy="1815900"/>
          </a:xfrm>
        </p:grpSpPr>
        <p:sp>
          <p:nvSpPr>
            <p:cNvPr id="211" name="Google Shape;211;p28"/>
            <p:cNvSpPr/>
            <p:nvPr/>
          </p:nvSpPr>
          <p:spPr>
            <a:xfrm>
              <a:off x="3664038" y="1663782"/>
              <a:ext cx="1815900" cy="1815900"/>
            </a:xfrm>
            <a:prstGeom prst="ellipse">
              <a:avLst/>
            </a:prstGeom>
            <a:solidFill>
              <a:srgbClr val="5EDB12">
                <a:alpha val="94900"/>
              </a:srgbClr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8"/>
            <p:cNvSpPr txBox="1"/>
            <p:nvPr/>
          </p:nvSpPr>
          <p:spPr>
            <a:xfrm>
              <a:off x="3835987" y="2158475"/>
              <a:ext cx="1476300" cy="826500"/>
            </a:xfrm>
            <a:prstGeom prst="rect">
              <a:avLst/>
            </a:prstGeom>
            <a:solidFill>
              <a:srgbClr val="5EDB12">
                <a:alpha val="9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OBJECTIVES</a:t>
              </a:r>
              <a:endParaRPr b="1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3" name="Google Shape;213;p28"/>
          <p:cNvGrpSpPr/>
          <p:nvPr/>
        </p:nvGrpSpPr>
        <p:grpSpPr>
          <a:xfrm>
            <a:off x="1596140" y="644754"/>
            <a:ext cx="1068600" cy="1068600"/>
            <a:chOff x="2859873" y="853971"/>
            <a:chExt cx="1068600" cy="1068600"/>
          </a:xfrm>
        </p:grpSpPr>
        <p:sp>
          <p:nvSpPr>
            <p:cNvPr id="214" name="Google Shape;214;p28"/>
            <p:cNvSpPr/>
            <p:nvPr/>
          </p:nvSpPr>
          <p:spPr>
            <a:xfrm>
              <a:off x="2859873" y="853971"/>
              <a:ext cx="1068600" cy="1068600"/>
            </a:xfrm>
            <a:prstGeom prst="ellipse">
              <a:avLst/>
            </a:prstGeom>
            <a:solidFill>
              <a:srgbClr val="ABF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8"/>
            <p:cNvSpPr txBox="1"/>
            <p:nvPr/>
          </p:nvSpPr>
          <p:spPr>
            <a:xfrm>
              <a:off x="3012800" y="1022197"/>
              <a:ext cx="762600" cy="732300"/>
            </a:xfrm>
            <a:prstGeom prst="rect">
              <a:avLst/>
            </a:prstGeom>
            <a:solidFill>
              <a:srgbClr val="ABF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Mobile App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6" name="Google Shape;216;p28"/>
          <p:cNvGrpSpPr/>
          <p:nvPr/>
        </p:nvGrpSpPr>
        <p:grpSpPr>
          <a:xfrm>
            <a:off x="1578200" y="3832298"/>
            <a:ext cx="1076720" cy="1068600"/>
            <a:chOff x="5206328" y="3234278"/>
            <a:chExt cx="1076720" cy="1068600"/>
          </a:xfrm>
        </p:grpSpPr>
        <p:sp>
          <p:nvSpPr>
            <p:cNvPr id="217" name="Google Shape;217;p28"/>
            <p:cNvSpPr/>
            <p:nvPr/>
          </p:nvSpPr>
          <p:spPr>
            <a:xfrm>
              <a:off x="5214448" y="3234278"/>
              <a:ext cx="1068600" cy="1068600"/>
            </a:xfrm>
            <a:prstGeom prst="ellipse">
              <a:avLst/>
            </a:prstGeom>
            <a:solidFill>
              <a:srgbClr val="ABF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8"/>
            <p:cNvSpPr txBox="1"/>
            <p:nvPr/>
          </p:nvSpPr>
          <p:spPr>
            <a:xfrm>
              <a:off x="5206328" y="3432330"/>
              <a:ext cx="1032000" cy="702600"/>
            </a:xfrm>
            <a:prstGeom prst="rect">
              <a:avLst/>
            </a:prstGeom>
            <a:solidFill>
              <a:srgbClr val="ABF47F">
                <a:alpha val="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Cloud Service Analyzer</a:t>
              </a:r>
              <a:r>
                <a:rPr b="1"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9" name="Google Shape;219;p28"/>
          <p:cNvGrpSpPr/>
          <p:nvPr/>
        </p:nvGrpSpPr>
        <p:grpSpPr>
          <a:xfrm>
            <a:off x="-5" y="2239950"/>
            <a:ext cx="1068600" cy="1068600"/>
            <a:chOff x="5214448" y="3234278"/>
            <a:chExt cx="1068600" cy="1068600"/>
          </a:xfrm>
        </p:grpSpPr>
        <p:sp>
          <p:nvSpPr>
            <p:cNvPr id="220" name="Google Shape;220;p28"/>
            <p:cNvSpPr/>
            <p:nvPr/>
          </p:nvSpPr>
          <p:spPr>
            <a:xfrm>
              <a:off x="5214448" y="3234278"/>
              <a:ext cx="1068600" cy="1068600"/>
            </a:xfrm>
            <a:prstGeom prst="ellipse">
              <a:avLst/>
            </a:prstGeom>
            <a:solidFill>
              <a:srgbClr val="ABF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8"/>
            <p:cNvSpPr txBox="1"/>
            <p:nvPr/>
          </p:nvSpPr>
          <p:spPr>
            <a:xfrm>
              <a:off x="5367375" y="3402503"/>
              <a:ext cx="762600" cy="732300"/>
            </a:xfrm>
            <a:prstGeom prst="rect">
              <a:avLst/>
            </a:prstGeom>
            <a:solidFill>
              <a:srgbClr val="ABF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SMS </a:t>
              </a: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2" name="Google Shape;222;p28"/>
          <p:cNvGrpSpPr/>
          <p:nvPr/>
        </p:nvGrpSpPr>
        <p:grpSpPr>
          <a:xfrm>
            <a:off x="3183553" y="2239950"/>
            <a:ext cx="1068600" cy="1068600"/>
            <a:chOff x="5214448" y="3234278"/>
            <a:chExt cx="1068600" cy="1068600"/>
          </a:xfrm>
        </p:grpSpPr>
        <p:sp>
          <p:nvSpPr>
            <p:cNvPr id="223" name="Google Shape;223;p28"/>
            <p:cNvSpPr/>
            <p:nvPr/>
          </p:nvSpPr>
          <p:spPr>
            <a:xfrm>
              <a:off x="5214448" y="3234278"/>
              <a:ext cx="1068600" cy="1068600"/>
            </a:xfrm>
            <a:prstGeom prst="ellipse">
              <a:avLst/>
            </a:prstGeom>
            <a:solidFill>
              <a:srgbClr val="ABF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8"/>
            <p:cNvSpPr txBox="1"/>
            <p:nvPr/>
          </p:nvSpPr>
          <p:spPr>
            <a:xfrm>
              <a:off x="5287345" y="3398828"/>
              <a:ext cx="922800" cy="732300"/>
            </a:xfrm>
            <a:prstGeom prst="rect">
              <a:avLst/>
            </a:prstGeom>
            <a:solidFill>
              <a:srgbClr val="5EDB12">
                <a:alpha val="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Sensor Network</a:t>
              </a:r>
              <a:endParaRPr b="1" sz="1000">
                <a:solidFill>
                  <a:srgbClr val="5EDB1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E08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/>
          <p:nvPr/>
        </p:nvSpPr>
        <p:spPr>
          <a:xfrm>
            <a:off x="0" y="-7675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468275" y="246838"/>
            <a:ext cx="168672" cy="159812"/>
          </a:xfrm>
          <a:custGeom>
            <a:rect b="b" l="l" r="r" t="t"/>
            <a:pathLst>
              <a:path extrusionOk="0" h="319624" w="337343">
                <a:moveTo>
                  <a:pt x="0" y="0"/>
                </a:moveTo>
                <a:lnTo>
                  <a:pt x="337343" y="0"/>
                </a:lnTo>
                <a:lnTo>
                  <a:pt x="337343" y="319624"/>
                </a:lnTo>
                <a:lnTo>
                  <a:pt x="0" y="31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29"/>
          <p:cNvSpPr txBox="1"/>
          <p:nvPr/>
        </p:nvSpPr>
        <p:spPr>
          <a:xfrm>
            <a:off x="741779" y="246859"/>
            <a:ext cx="86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EDB12"/>
                </a:solidFill>
                <a:latin typeface="Open Sans"/>
                <a:ea typeface="Open Sans"/>
                <a:cs typeface="Open Sans"/>
                <a:sym typeface="Open Sans"/>
              </a:rPr>
              <a:t>CropScope</a:t>
            </a:r>
            <a:endParaRPr b="1" sz="700">
              <a:solidFill>
                <a:srgbClr val="5EDB12"/>
              </a:solidFill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780175" y="514350"/>
            <a:ext cx="471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EDB12"/>
                </a:solidFill>
                <a:latin typeface="Lato Black"/>
                <a:ea typeface="Lato Black"/>
                <a:cs typeface="Lato Black"/>
                <a:sym typeface="Lato Black"/>
              </a:rPr>
              <a:t>Literature Review</a:t>
            </a:r>
            <a:endParaRPr sz="700">
              <a:solidFill>
                <a:srgbClr val="5EDB1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33" name="Google Shape;233;p29"/>
          <p:cNvSpPr txBox="1"/>
          <p:nvPr/>
        </p:nvSpPr>
        <p:spPr>
          <a:xfrm>
            <a:off x="817049" y="3286025"/>
            <a:ext cx="3167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34" name="Google Shape;234;p29"/>
          <p:cNvSpPr/>
          <p:nvPr/>
        </p:nvSpPr>
        <p:spPr>
          <a:xfrm rot="10800000">
            <a:off x="8241025" y="4361254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9"/>
          <p:cNvSpPr txBox="1"/>
          <p:nvPr/>
        </p:nvSpPr>
        <p:spPr>
          <a:xfrm>
            <a:off x="8241025" y="441615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817050" y="1109775"/>
            <a:ext cx="70287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Oguz, Faruk Enes and Ekersular, Mahmut Nedim and Sunnetci, Kubilay Muhammed and Alkan, Ahmet (</a:t>
            </a:r>
            <a:r>
              <a:rPr b="1" i="1"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Enabling Smart Agriculture: An IoT-Based Framework for Real-Time Monitoring and Analysis of Agricultural Data</a:t>
            </a:r>
            <a:r>
              <a:rPr b="1"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1"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Introduced IoT-based framework for agricultural data monitoring.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Integrates sensors for light intensity, temperature, pressure, smoke detection, humidity, and soil moisture.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Facilitates proactive intervention to optimize agricultural practices.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Requires stable Wi-Fi connectivity for data transmission.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29"/>
          <p:cNvSpPr/>
          <p:nvPr/>
        </p:nvSpPr>
        <p:spPr>
          <a:xfrm>
            <a:off x="8277689" y="-382333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9"/>
          <p:cNvSpPr/>
          <p:nvPr/>
        </p:nvSpPr>
        <p:spPr>
          <a:xfrm>
            <a:off x="-405986" y="4296067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E08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/>
          <p:nvPr/>
        </p:nvSpPr>
        <p:spPr>
          <a:xfrm>
            <a:off x="-23025" y="0"/>
            <a:ext cx="9167100" cy="516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0"/>
          <p:cNvSpPr/>
          <p:nvPr/>
        </p:nvSpPr>
        <p:spPr>
          <a:xfrm>
            <a:off x="514350" y="354538"/>
            <a:ext cx="168672" cy="159812"/>
          </a:xfrm>
          <a:custGeom>
            <a:rect b="b" l="l" r="r" t="t"/>
            <a:pathLst>
              <a:path extrusionOk="0" h="319624" w="337343">
                <a:moveTo>
                  <a:pt x="0" y="0"/>
                </a:moveTo>
                <a:lnTo>
                  <a:pt x="337343" y="0"/>
                </a:lnTo>
                <a:lnTo>
                  <a:pt x="337343" y="319624"/>
                </a:lnTo>
                <a:lnTo>
                  <a:pt x="0" y="31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30"/>
          <p:cNvSpPr txBox="1"/>
          <p:nvPr/>
        </p:nvSpPr>
        <p:spPr>
          <a:xfrm>
            <a:off x="780179" y="367134"/>
            <a:ext cx="86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EDB12"/>
                </a:solidFill>
                <a:latin typeface="Open Sans"/>
                <a:ea typeface="Open Sans"/>
                <a:cs typeface="Open Sans"/>
                <a:sym typeface="Open Sans"/>
              </a:rPr>
              <a:t>CropScope</a:t>
            </a:r>
            <a:endParaRPr b="1" sz="700">
              <a:solidFill>
                <a:srgbClr val="5EDB12"/>
              </a:solidFill>
            </a:endParaRPr>
          </a:p>
        </p:txBody>
      </p:sp>
      <p:sp>
        <p:nvSpPr>
          <p:cNvPr id="246" name="Google Shape;246;p30"/>
          <p:cNvSpPr txBox="1"/>
          <p:nvPr/>
        </p:nvSpPr>
        <p:spPr>
          <a:xfrm>
            <a:off x="780175" y="724875"/>
            <a:ext cx="471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EDB12"/>
                </a:solidFill>
                <a:latin typeface="Lato Black"/>
                <a:ea typeface="Lato Black"/>
                <a:cs typeface="Lato Black"/>
                <a:sym typeface="Lato Black"/>
              </a:rPr>
              <a:t>Literature Review</a:t>
            </a:r>
            <a:endParaRPr sz="700">
              <a:solidFill>
                <a:srgbClr val="5EDB1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47" name="Google Shape;247;p30"/>
          <p:cNvSpPr txBox="1"/>
          <p:nvPr/>
        </p:nvSpPr>
        <p:spPr>
          <a:xfrm>
            <a:off x="817049" y="3286025"/>
            <a:ext cx="3167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48" name="Google Shape;248;p30"/>
          <p:cNvSpPr/>
          <p:nvPr/>
        </p:nvSpPr>
        <p:spPr>
          <a:xfrm rot="10800000">
            <a:off x="8241025" y="4361254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0"/>
          <p:cNvSpPr txBox="1"/>
          <p:nvPr/>
        </p:nvSpPr>
        <p:spPr>
          <a:xfrm>
            <a:off x="8241025" y="441615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0"/>
          <p:cNvSpPr txBox="1"/>
          <p:nvPr/>
        </p:nvSpPr>
        <p:spPr>
          <a:xfrm>
            <a:off x="355925" y="1192775"/>
            <a:ext cx="77814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Vijh, Surbhi and Arpita and Bora, Jyoti Prakash and Gupta, Prateek Kumar and Kumar, Sumit (</a:t>
            </a:r>
            <a:r>
              <a:rPr b="1" i="1"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IOT Based Real-Time Monitoring System for Precision Agriculture</a:t>
            </a:r>
            <a:r>
              <a:rPr b="1"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1"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Introduced an IoT-based real-time monitoring system for precision agriculture.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Utilizes DHT11 Humidity Temperature Sensor and capacitive soil moisture sensor for monitoring humidity, air temperature, and soil moisture levels.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Enables farmers to enhance agricultural operations through real-time monitoring and control.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Dependency on stable internet connectivity for remote monitoring and a limited scalability for large-scale agricultural operations.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8277689" y="-382333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0"/>
          <p:cNvSpPr/>
          <p:nvPr/>
        </p:nvSpPr>
        <p:spPr>
          <a:xfrm>
            <a:off x="-651636" y="4361242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E08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/>
          <p:nvPr/>
        </p:nvSpPr>
        <p:spPr>
          <a:xfrm>
            <a:off x="0" y="-38375"/>
            <a:ext cx="9151800" cy="51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1"/>
          <p:cNvSpPr/>
          <p:nvPr/>
        </p:nvSpPr>
        <p:spPr>
          <a:xfrm>
            <a:off x="514350" y="354538"/>
            <a:ext cx="168672" cy="159812"/>
          </a:xfrm>
          <a:custGeom>
            <a:rect b="b" l="l" r="r" t="t"/>
            <a:pathLst>
              <a:path extrusionOk="0" h="319624" w="337343">
                <a:moveTo>
                  <a:pt x="0" y="0"/>
                </a:moveTo>
                <a:lnTo>
                  <a:pt x="337343" y="0"/>
                </a:lnTo>
                <a:lnTo>
                  <a:pt x="337343" y="319624"/>
                </a:lnTo>
                <a:lnTo>
                  <a:pt x="0" y="31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31"/>
          <p:cNvSpPr txBox="1"/>
          <p:nvPr/>
        </p:nvSpPr>
        <p:spPr>
          <a:xfrm>
            <a:off x="780179" y="367134"/>
            <a:ext cx="86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EDB12"/>
                </a:solidFill>
                <a:latin typeface="Open Sans"/>
                <a:ea typeface="Open Sans"/>
                <a:cs typeface="Open Sans"/>
                <a:sym typeface="Open Sans"/>
              </a:rPr>
              <a:t>CropScope</a:t>
            </a:r>
            <a:endParaRPr b="1" sz="700">
              <a:solidFill>
                <a:srgbClr val="5EDB12"/>
              </a:solidFill>
            </a:endParaRPr>
          </a:p>
        </p:txBody>
      </p:sp>
      <p:sp>
        <p:nvSpPr>
          <p:cNvPr id="260" name="Google Shape;260;p31"/>
          <p:cNvSpPr txBox="1"/>
          <p:nvPr/>
        </p:nvSpPr>
        <p:spPr>
          <a:xfrm>
            <a:off x="780175" y="724875"/>
            <a:ext cx="471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EDB12"/>
                </a:solidFill>
                <a:latin typeface="Lato Black"/>
                <a:ea typeface="Lato Black"/>
                <a:cs typeface="Lato Black"/>
                <a:sym typeface="Lato Black"/>
              </a:rPr>
              <a:t>Literature Review</a:t>
            </a:r>
            <a:endParaRPr sz="700">
              <a:solidFill>
                <a:srgbClr val="5EDB1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61" name="Google Shape;261;p31"/>
          <p:cNvSpPr txBox="1"/>
          <p:nvPr/>
        </p:nvSpPr>
        <p:spPr>
          <a:xfrm>
            <a:off x="817049" y="3286025"/>
            <a:ext cx="3167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62" name="Google Shape;262;p31"/>
          <p:cNvSpPr/>
          <p:nvPr/>
        </p:nvSpPr>
        <p:spPr>
          <a:xfrm rot="10800000">
            <a:off x="8241025" y="4361254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1"/>
          <p:cNvSpPr txBox="1"/>
          <p:nvPr/>
        </p:nvSpPr>
        <p:spPr>
          <a:xfrm>
            <a:off x="8241025" y="441615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1"/>
          <p:cNvSpPr txBox="1"/>
          <p:nvPr/>
        </p:nvSpPr>
        <p:spPr>
          <a:xfrm>
            <a:off x="552725" y="1231150"/>
            <a:ext cx="75618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Saputra, Dezdyta Poszarevac and Nugraha, M.B. and Tampubolon, Marojahan and Arhan, Kahfi Sabillah (</a:t>
            </a:r>
            <a:r>
              <a:rPr b="1" i="1"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Design and Development of Soil Monitoring System for Precision Farming On Small-Scale Outdoor Farm</a:t>
            </a:r>
            <a:r>
              <a:rPr b="1"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1"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Introduced a user-friendly interface for monitoring plant conditions and nutrition.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Incorporated sensors like DHT-11, YL-69, MQ-135, and BH1750 to measure temperature, soil moisture, humidity, light intensity, and CO2 levels.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 Optimizes growth conditions for vegetable crops, catering to the needs of the automated farming industry.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Initial setup and maintenance may require technical expertise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31"/>
          <p:cNvSpPr/>
          <p:nvPr/>
        </p:nvSpPr>
        <p:spPr>
          <a:xfrm>
            <a:off x="8277689" y="-382333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1"/>
          <p:cNvSpPr/>
          <p:nvPr/>
        </p:nvSpPr>
        <p:spPr>
          <a:xfrm>
            <a:off x="-436711" y="4314792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1"/>
          <p:cNvSpPr/>
          <p:nvPr/>
        </p:nvSpPr>
        <p:spPr>
          <a:xfrm>
            <a:off x="429670" y="2061402"/>
            <a:ext cx="698500" cy="71437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1"/>
          <p:cNvSpPr/>
          <p:nvPr/>
        </p:nvSpPr>
        <p:spPr>
          <a:xfrm>
            <a:off x="8277700" y="3347100"/>
            <a:ext cx="762000" cy="71437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E08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/>
          <p:nvPr/>
        </p:nvSpPr>
        <p:spPr>
          <a:xfrm>
            <a:off x="-15350" y="-38375"/>
            <a:ext cx="9204600" cy="5181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2"/>
          <p:cNvSpPr/>
          <p:nvPr/>
        </p:nvSpPr>
        <p:spPr>
          <a:xfrm>
            <a:off x="514350" y="354538"/>
            <a:ext cx="168672" cy="159812"/>
          </a:xfrm>
          <a:custGeom>
            <a:rect b="b" l="l" r="r" t="t"/>
            <a:pathLst>
              <a:path extrusionOk="0" h="319624" w="337343">
                <a:moveTo>
                  <a:pt x="0" y="0"/>
                </a:moveTo>
                <a:lnTo>
                  <a:pt x="337343" y="0"/>
                </a:lnTo>
                <a:lnTo>
                  <a:pt x="337343" y="319624"/>
                </a:lnTo>
                <a:lnTo>
                  <a:pt x="0" y="31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32"/>
          <p:cNvSpPr txBox="1"/>
          <p:nvPr/>
        </p:nvSpPr>
        <p:spPr>
          <a:xfrm>
            <a:off x="780179" y="367134"/>
            <a:ext cx="86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EDB12"/>
                </a:solidFill>
                <a:latin typeface="Open Sans"/>
                <a:ea typeface="Open Sans"/>
                <a:cs typeface="Open Sans"/>
                <a:sym typeface="Open Sans"/>
              </a:rPr>
              <a:t>CropScope</a:t>
            </a:r>
            <a:endParaRPr b="1" sz="700">
              <a:solidFill>
                <a:srgbClr val="5EDB12"/>
              </a:solidFill>
            </a:endParaRPr>
          </a:p>
        </p:txBody>
      </p:sp>
      <p:sp>
        <p:nvSpPr>
          <p:cNvPr id="276" name="Google Shape;276;p32"/>
          <p:cNvSpPr txBox="1"/>
          <p:nvPr/>
        </p:nvSpPr>
        <p:spPr>
          <a:xfrm>
            <a:off x="780175" y="724875"/>
            <a:ext cx="471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EDB12"/>
                </a:solidFill>
                <a:latin typeface="Lato Black"/>
                <a:ea typeface="Lato Black"/>
                <a:cs typeface="Lato Black"/>
                <a:sym typeface="Lato Black"/>
              </a:rPr>
              <a:t>Literature Review</a:t>
            </a:r>
            <a:endParaRPr sz="700">
              <a:solidFill>
                <a:srgbClr val="5EDB1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77" name="Google Shape;277;p32"/>
          <p:cNvSpPr txBox="1"/>
          <p:nvPr/>
        </p:nvSpPr>
        <p:spPr>
          <a:xfrm>
            <a:off x="817049" y="3286025"/>
            <a:ext cx="3167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78" name="Google Shape;278;p32"/>
          <p:cNvSpPr/>
          <p:nvPr/>
        </p:nvSpPr>
        <p:spPr>
          <a:xfrm rot="10800000">
            <a:off x="8241025" y="4361254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2"/>
          <p:cNvSpPr txBox="1"/>
          <p:nvPr/>
        </p:nvSpPr>
        <p:spPr>
          <a:xfrm>
            <a:off x="8241025" y="441615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2"/>
          <p:cNvSpPr txBox="1"/>
          <p:nvPr/>
        </p:nvSpPr>
        <p:spPr>
          <a:xfrm>
            <a:off x="353125" y="1192775"/>
            <a:ext cx="74772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Audyanisa, Salsabila and Darmawan, Abdi (</a:t>
            </a:r>
            <a:r>
              <a:rPr b="1" i="1"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DESIGN A MONITORING SYSTEM FOR TEMPERATURE, HUMIDITY AND SOIL PH IN IOT-BASED ONION CULTIVATION</a:t>
            </a:r>
            <a:r>
              <a:rPr b="1"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) </a:t>
            </a:r>
            <a:endParaRPr b="1"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Designed a monitoring system for temperature, humidity, and soil pH in IoT-based onion cultivation.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Utilizes soil pH and DHT11 sensors for measuring soil pH, temperature, and humidity.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Provides real-time monitoring of crucial environmental factors tailored specifically for onion cultivation needs.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Requires regular maintenance and calibration for accurate readings.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32"/>
          <p:cNvSpPr/>
          <p:nvPr/>
        </p:nvSpPr>
        <p:spPr>
          <a:xfrm>
            <a:off x="8277689" y="-382333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2"/>
          <p:cNvSpPr/>
          <p:nvPr/>
        </p:nvSpPr>
        <p:spPr>
          <a:xfrm>
            <a:off x="-484711" y="4214967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2"/>
          <p:cNvSpPr/>
          <p:nvPr/>
        </p:nvSpPr>
        <p:spPr>
          <a:xfrm>
            <a:off x="7331350" y="2571738"/>
            <a:ext cx="730250" cy="68262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2"/>
          <p:cNvSpPr/>
          <p:nvPr/>
        </p:nvSpPr>
        <p:spPr>
          <a:xfrm>
            <a:off x="548745" y="1694671"/>
            <a:ext cx="730250" cy="68262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E08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/>
          <p:nvPr/>
        </p:nvSpPr>
        <p:spPr>
          <a:xfrm>
            <a:off x="-7675" y="0"/>
            <a:ext cx="9144000" cy="515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3"/>
          <p:cNvSpPr/>
          <p:nvPr/>
        </p:nvSpPr>
        <p:spPr>
          <a:xfrm>
            <a:off x="514350" y="354538"/>
            <a:ext cx="168672" cy="159812"/>
          </a:xfrm>
          <a:custGeom>
            <a:rect b="b" l="l" r="r" t="t"/>
            <a:pathLst>
              <a:path extrusionOk="0" h="319624" w="337343">
                <a:moveTo>
                  <a:pt x="0" y="0"/>
                </a:moveTo>
                <a:lnTo>
                  <a:pt x="337343" y="0"/>
                </a:lnTo>
                <a:lnTo>
                  <a:pt x="337343" y="319624"/>
                </a:lnTo>
                <a:lnTo>
                  <a:pt x="0" y="31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33"/>
          <p:cNvSpPr txBox="1"/>
          <p:nvPr/>
        </p:nvSpPr>
        <p:spPr>
          <a:xfrm>
            <a:off x="780179" y="367134"/>
            <a:ext cx="86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EDB12"/>
                </a:solidFill>
                <a:latin typeface="Open Sans"/>
                <a:ea typeface="Open Sans"/>
                <a:cs typeface="Open Sans"/>
                <a:sym typeface="Open Sans"/>
              </a:rPr>
              <a:t>CropScope</a:t>
            </a:r>
            <a:endParaRPr b="1" sz="700">
              <a:solidFill>
                <a:srgbClr val="5EDB12"/>
              </a:solidFill>
            </a:endParaRPr>
          </a:p>
        </p:txBody>
      </p:sp>
      <p:sp>
        <p:nvSpPr>
          <p:cNvPr id="292" name="Google Shape;292;p33"/>
          <p:cNvSpPr txBox="1"/>
          <p:nvPr/>
        </p:nvSpPr>
        <p:spPr>
          <a:xfrm>
            <a:off x="780175" y="724875"/>
            <a:ext cx="471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EDB12"/>
                </a:solidFill>
                <a:latin typeface="Lato Black"/>
                <a:ea typeface="Lato Black"/>
                <a:cs typeface="Lato Black"/>
                <a:sym typeface="Lato Black"/>
              </a:rPr>
              <a:t>Literature Review</a:t>
            </a:r>
            <a:endParaRPr sz="700">
              <a:solidFill>
                <a:srgbClr val="5EDB1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93" name="Google Shape;293;p33"/>
          <p:cNvSpPr txBox="1"/>
          <p:nvPr/>
        </p:nvSpPr>
        <p:spPr>
          <a:xfrm>
            <a:off x="817049" y="3286025"/>
            <a:ext cx="3167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94" name="Google Shape;294;p33"/>
          <p:cNvSpPr/>
          <p:nvPr/>
        </p:nvSpPr>
        <p:spPr>
          <a:xfrm rot="10800000">
            <a:off x="8241025" y="4361254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3"/>
          <p:cNvSpPr txBox="1"/>
          <p:nvPr/>
        </p:nvSpPr>
        <p:spPr>
          <a:xfrm>
            <a:off x="8241025" y="441615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3"/>
          <p:cNvSpPr txBox="1"/>
          <p:nvPr/>
        </p:nvSpPr>
        <p:spPr>
          <a:xfrm>
            <a:off x="614150" y="1192775"/>
            <a:ext cx="73698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Sabu, Dhiya and Alagumariappan, Paramasivam and Sankaran, Vijayalakshmi and Pittu, Pavan Sai Kiran Reddy (</a:t>
            </a:r>
            <a:r>
              <a:rPr b="1" i="1"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Design and Development of Internet of Things-Based Smart Sensors for Monitoring Agricultural Lands</a:t>
            </a:r>
            <a:r>
              <a:rPr b="1"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1"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Introduce standalone soil monitoring device with solar cells, battery units, and pH/moisture sensors.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pH and moisture sensors interfaced with ESP8266 microcontroller for data collection.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Enhances agricultural management practices for improved crop cultivation.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Initial setup and maintenance may require technical expertise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33"/>
          <p:cNvSpPr/>
          <p:nvPr/>
        </p:nvSpPr>
        <p:spPr>
          <a:xfrm>
            <a:off x="-484711" y="4214967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3"/>
          <p:cNvSpPr/>
          <p:nvPr/>
        </p:nvSpPr>
        <p:spPr>
          <a:xfrm>
            <a:off x="8350239" y="-446033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E08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/>
          <p:nvPr/>
        </p:nvSpPr>
        <p:spPr>
          <a:xfrm>
            <a:off x="-7675" y="0"/>
            <a:ext cx="91968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4"/>
          <p:cNvSpPr/>
          <p:nvPr/>
        </p:nvSpPr>
        <p:spPr>
          <a:xfrm>
            <a:off x="514350" y="354538"/>
            <a:ext cx="168672" cy="159812"/>
          </a:xfrm>
          <a:custGeom>
            <a:rect b="b" l="l" r="r" t="t"/>
            <a:pathLst>
              <a:path extrusionOk="0" h="319624" w="337343">
                <a:moveTo>
                  <a:pt x="0" y="0"/>
                </a:moveTo>
                <a:lnTo>
                  <a:pt x="337343" y="0"/>
                </a:lnTo>
                <a:lnTo>
                  <a:pt x="337343" y="319624"/>
                </a:lnTo>
                <a:lnTo>
                  <a:pt x="0" y="31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34"/>
          <p:cNvSpPr txBox="1"/>
          <p:nvPr/>
        </p:nvSpPr>
        <p:spPr>
          <a:xfrm>
            <a:off x="780179" y="367134"/>
            <a:ext cx="86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EDB12"/>
                </a:solidFill>
                <a:latin typeface="Open Sans"/>
                <a:ea typeface="Open Sans"/>
                <a:cs typeface="Open Sans"/>
                <a:sym typeface="Open Sans"/>
              </a:rPr>
              <a:t>CropScope</a:t>
            </a:r>
            <a:endParaRPr b="1" sz="700">
              <a:solidFill>
                <a:srgbClr val="5EDB12"/>
              </a:solidFill>
            </a:endParaRPr>
          </a:p>
        </p:txBody>
      </p:sp>
      <p:sp>
        <p:nvSpPr>
          <p:cNvPr id="306" name="Google Shape;306;p34"/>
          <p:cNvSpPr txBox="1"/>
          <p:nvPr/>
        </p:nvSpPr>
        <p:spPr>
          <a:xfrm>
            <a:off x="780175" y="724875"/>
            <a:ext cx="471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EDB12"/>
                </a:solidFill>
                <a:latin typeface="Lato Black"/>
                <a:ea typeface="Lato Black"/>
                <a:cs typeface="Lato Black"/>
                <a:sym typeface="Lato Black"/>
              </a:rPr>
              <a:t>Literature Review</a:t>
            </a:r>
            <a:endParaRPr sz="700">
              <a:solidFill>
                <a:srgbClr val="5EDB1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07" name="Google Shape;307;p34"/>
          <p:cNvSpPr txBox="1"/>
          <p:nvPr/>
        </p:nvSpPr>
        <p:spPr>
          <a:xfrm>
            <a:off x="817049" y="3286025"/>
            <a:ext cx="3167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08" name="Google Shape;308;p34"/>
          <p:cNvSpPr/>
          <p:nvPr/>
        </p:nvSpPr>
        <p:spPr>
          <a:xfrm rot="10800000">
            <a:off x="8241025" y="4361254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4"/>
          <p:cNvSpPr txBox="1"/>
          <p:nvPr/>
        </p:nvSpPr>
        <p:spPr>
          <a:xfrm>
            <a:off x="8241025" y="441615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4"/>
          <p:cNvSpPr txBox="1"/>
          <p:nvPr/>
        </p:nvSpPr>
        <p:spPr>
          <a:xfrm>
            <a:off x="683025" y="1192775"/>
            <a:ext cx="71781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Gomathi, S and Raj, Kumar V and Aakash, R Vishnu (</a:t>
            </a:r>
            <a:r>
              <a:rPr b="1" i="1"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Design and implementation of an IoT-based system for monitoring nutrients and irrigation in agricultural soil</a:t>
            </a:r>
            <a:r>
              <a:rPr b="1"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1"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Presented an IoT-based system for monitoring soil nutrients and irrigation, integrating Arduino and ESP8266 modules with sensors like soil moisture, temperature, and NPK.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Utilizes real-time data collection for informed irrigation and nutrient management. Incorporates a smart irrigation system to optimize water usage.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 Enhances accessibility and resource efficiency in agriculture.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rgbClr val="5EDB1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5EDB12"/>
                </a:solidFill>
                <a:latin typeface="Montserrat"/>
                <a:ea typeface="Montserrat"/>
                <a:cs typeface="Montserrat"/>
                <a:sym typeface="Montserrat"/>
              </a:rPr>
              <a:t>System scalability may limit practical deployment.</a:t>
            </a:r>
            <a:endParaRPr sz="1300">
              <a:solidFill>
                <a:srgbClr val="5EDB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34"/>
          <p:cNvSpPr/>
          <p:nvPr/>
        </p:nvSpPr>
        <p:spPr>
          <a:xfrm>
            <a:off x="-484711" y="4214967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4"/>
          <p:cNvSpPr/>
          <p:nvPr/>
        </p:nvSpPr>
        <p:spPr>
          <a:xfrm>
            <a:off x="8311839" y="-422983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E08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5"/>
          <p:cNvSpPr/>
          <p:nvPr/>
        </p:nvSpPr>
        <p:spPr>
          <a:xfrm>
            <a:off x="3900" y="-7650"/>
            <a:ext cx="9136200" cy="515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5"/>
          <p:cNvSpPr/>
          <p:nvPr/>
        </p:nvSpPr>
        <p:spPr>
          <a:xfrm>
            <a:off x="514350" y="354538"/>
            <a:ext cx="168672" cy="159812"/>
          </a:xfrm>
          <a:custGeom>
            <a:rect b="b" l="l" r="r" t="t"/>
            <a:pathLst>
              <a:path extrusionOk="0" h="319624" w="337343">
                <a:moveTo>
                  <a:pt x="0" y="0"/>
                </a:moveTo>
                <a:lnTo>
                  <a:pt x="337343" y="0"/>
                </a:lnTo>
                <a:lnTo>
                  <a:pt x="337343" y="319624"/>
                </a:lnTo>
                <a:lnTo>
                  <a:pt x="0" y="31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9" name="Google Shape;319;p35"/>
          <p:cNvSpPr txBox="1"/>
          <p:nvPr/>
        </p:nvSpPr>
        <p:spPr>
          <a:xfrm>
            <a:off x="780179" y="367134"/>
            <a:ext cx="86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EDB12"/>
                </a:solidFill>
                <a:latin typeface="Open Sans"/>
                <a:ea typeface="Open Sans"/>
                <a:cs typeface="Open Sans"/>
                <a:sym typeface="Open Sans"/>
              </a:rPr>
              <a:t>CropScope</a:t>
            </a:r>
            <a:endParaRPr b="1" sz="700">
              <a:solidFill>
                <a:srgbClr val="5EDB12"/>
              </a:solidFill>
            </a:endParaRPr>
          </a:p>
        </p:txBody>
      </p:sp>
      <p:sp>
        <p:nvSpPr>
          <p:cNvPr id="320" name="Google Shape;320;p35"/>
          <p:cNvSpPr txBox="1"/>
          <p:nvPr/>
        </p:nvSpPr>
        <p:spPr>
          <a:xfrm>
            <a:off x="817050" y="611000"/>
            <a:ext cx="471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EDB12"/>
                </a:solidFill>
                <a:latin typeface="Lato Black"/>
                <a:ea typeface="Lato Black"/>
                <a:cs typeface="Lato Black"/>
                <a:sym typeface="Lato Black"/>
              </a:rPr>
              <a:t>SYSTEM ARCHITECTURE</a:t>
            </a:r>
            <a:endParaRPr sz="700">
              <a:solidFill>
                <a:srgbClr val="5EDB1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21" name="Google Shape;321;p35"/>
          <p:cNvSpPr txBox="1"/>
          <p:nvPr/>
        </p:nvSpPr>
        <p:spPr>
          <a:xfrm>
            <a:off x="817049" y="3286025"/>
            <a:ext cx="3167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22" name="Google Shape;322;p35"/>
          <p:cNvSpPr/>
          <p:nvPr/>
        </p:nvSpPr>
        <p:spPr>
          <a:xfrm rot="10800000">
            <a:off x="8241025" y="4361254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5"/>
          <p:cNvSpPr txBox="1"/>
          <p:nvPr/>
        </p:nvSpPr>
        <p:spPr>
          <a:xfrm>
            <a:off x="8241025" y="441615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0050" y="1065225"/>
            <a:ext cx="6096826" cy="364070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5"/>
          <p:cNvSpPr/>
          <p:nvPr/>
        </p:nvSpPr>
        <p:spPr>
          <a:xfrm>
            <a:off x="-419086" y="4155842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5"/>
          <p:cNvSpPr/>
          <p:nvPr/>
        </p:nvSpPr>
        <p:spPr>
          <a:xfrm>
            <a:off x="8454239" y="-382333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5"/>
          <p:cNvSpPr/>
          <p:nvPr/>
        </p:nvSpPr>
        <p:spPr>
          <a:xfrm>
            <a:off x="1037271" y="1459734"/>
            <a:ext cx="825500" cy="84137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5"/>
          <p:cNvSpPr/>
          <p:nvPr/>
        </p:nvSpPr>
        <p:spPr>
          <a:xfrm>
            <a:off x="7784100" y="2317650"/>
            <a:ext cx="857250" cy="84137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E08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6"/>
          <p:cNvSpPr/>
          <p:nvPr/>
        </p:nvSpPr>
        <p:spPr>
          <a:xfrm>
            <a:off x="-30700" y="0"/>
            <a:ext cx="91746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6"/>
          <p:cNvSpPr/>
          <p:nvPr/>
        </p:nvSpPr>
        <p:spPr>
          <a:xfrm>
            <a:off x="514350" y="354538"/>
            <a:ext cx="168672" cy="159812"/>
          </a:xfrm>
          <a:custGeom>
            <a:rect b="b" l="l" r="r" t="t"/>
            <a:pathLst>
              <a:path extrusionOk="0" h="319624" w="337343">
                <a:moveTo>
                  <a:pt x="0" y="0"/>
                </a:moveTo>
                <a:lnTo>
                  <a:pt x="337343" y="0"/>
                </a:lnTo>
                <a:lnTo>
                  <a:pt x="337343" y="319624"/>
                </a:lnTo>
                <a:lnTo>
                  <a:pt x="0" y="31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5" name="Google Shape;335;p36"/>
          <p:cNvSpPr txBox="1"/>
          <p:nvPr/>
        </p:nvSpPr>
        <p:spPr>
          <a:xfrm>
            <a:off x="780179" y="367134"/>
            <a:ext cx="86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EDB12"/>
                </a:solidFill>
                <a:latin typeface="Open Sans"/>
                <a:ea typeface="Open Sans"/>
                <a:cs typeface="Open Sans"/>
                <a:sym typeface="Open Sans"/>
              </a:rPr>
              <a:t>CropScope</a:t>
            </a:r>
            <a:endParaRPr b="1" sz="700">
              <a:solidFill>
                <a:srgbClr val="5EDB12"/>
              </a:solidFill>
            </a:endParaRPr>
          </a:p>
        </p:txBody>
      </p:sp>
      <p:sp>
        <p:nvSpPr>
          <p:cNvPr id="336" name="Google Shape;336;p36"/>
          <p:cNvSpPr txBox="1"/>
          <p:nvPr/>
        </p:nvSpPr>
        <p:spPr>
          <a:xfrm>
            <a:off x="780175" y="733825"/>
            <a:ext cx="522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EDB12"/>
                </a:solidFill>
                <a:latin typeface="Lato Black"/>
                <a:ea typeface="Lato Black"/>
                <a:cs typeface="Lato Black"/>
                <a:sym typeface="Lato Black"/>
              </a:rPr>
              <a:t>HARDWARE</a:t>
            </a:r>
            <a:r>
              <a:rPr lang="en" sz="2500">
                <a:solidFill>
                  <a:srgbClr val="5EDB12"/>
                </a:solidFill>
                <a:latin typeface="Lato Black"/>
                <a:ea typeface="Lato Black"/>
                <a:cs typeface="Lato Black"/>
                <a:sym typeface="Lato Black"/>
              </a:rPr>
              <a:t> ARCHITECTURE</a:t>
            </a:r>
            <a:endParaRPr sz="700">
              <a:solidFill>
                <a:srgbClr val="5EDB1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37" name="Google Shape;337;p36"/>
          <p:cNvSpPr txBox="1"/>
          <p:nvPr/>
        </p:nvSpPr>
        <p:spPr>
          <a:xfrm>
            <a:off x="817049" y="3286025"/>
            <a:ext cx="3167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38" name="Google Shape;338;p36"/>
          <p:cNvSpPr/>
          <p:nvPr/>
        </p:nvSpPr>
        <p:spPr>
          <a:xfrm rot="10800000">
            <a:off x="8241025" y="4361254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6"/>
          <p:cNvSpPr txBox="1"/>
          <p:nvPr/>
        </p:nvSpPr>
        <p:spPr>
          <a:xfrm>
            <a:off x="8241025" y="441615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4850" y="1305075"/>
            <a:ext cx="6855650" cy="357277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6"/>
          <p:cNvSpPr/>
          <p:nvPr/>
        </p:nvSpPr>
        <p:spPr>
          <a:xfrm>
            <a:off x="8324864" y="-442608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949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6"/>
          <p:cNvSpPr/>
          <p:nvPr/>
        </p:nvSpPr>
        <p:spPr>
          <a:xfrm>
            <a:off x="-481603" y="4622998"/>
            <a:ext cx="904875" cy="920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6"/>
          <p:cNvSpPr/>
          <p:nvPr/>
        </p:nvSpPr>
        <p:spPr>
          <a:xfrm>
            <a:off x="7952324" y="2324449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6"/>
          <p:cNvSpPr/>
          <p:nvPr/>
        </p:nvSpPr>
        <p:spPr>
          <a:xfrm>
            <a:off x="358671" y="2413547"/>
            <a:ext cx="857250" cy="825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6"/>
          <p:cNvSpPr/>
          <p:nvPr/>
        </p:nvSpPr>
        <p:spPr>
          <a:xfrm>
            <a:off x="5293746" y="186122"/>
            <a:ext cx="857250" cy="825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E08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7"/>
          <p:cNvSpPr/>
          <p:nvPr/>
        </p:nvSpPr>
        <p:spPr>
          <a:xfrm>
            <a:off x="-125" y="0"/>
            <a:ext cx="9144000" cy="515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7"/>
          <p:cNvSpPr/>
          <p:nvPr/>
        </p:nvSpPr>
        <p:spPr>
          <a:xfrm>
            <a:off x="514350" y="354538"/>
            <a:ext cx="168672" cy="159812"/>
          </a:xfrm>
          <a:custGeom>
            <a:rect b="b" l="l" r="r" t="t"/>
            <a:pathLst>
              <a:path extrusionOk="0" h="319624" w="337343">
                <a:moveTo>
                  <a:pt x="0" y="0"/>
                </a:moveTo>
                <a:lnTo>
                  <a:pt x="337343" y="0"/>
                </a:lnTo>
                <a:lnTo>
                  <a:pt x="337343" y="319624"/>
                </a:lnTo>
                <a:lnTo>
                  <a:pt x="0" y="31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2" name="Google Shape;352;p37"/>
          <p:cNvSpPr txBox="1"/>
          <p:nvPr/>
        </p:nvSpPr>
        <p:spPr>
          <a:xfrm>
            <a:off x="780179" y="367134"/>
            <a:ext cx="86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EDB12"/>
                </a:solidFill>
                <a:latin typeface="Open Sans"/>
                <a:ea typeface="Open Sans"/>
                <a:cs typeface="Open Sans"/>
                <a:sym typeface="Open Sans"/>
              </a:rPr>
              <a:t>CropScope</a:t>
            </a:r>
            <a:endParaRPr b="1" sz="700">
              <a:solidFill>
                <a:srgbClr val="5EDB12"/>
              </a:solidFill>
            </a:endParaRPr>
          </a:p>
        </p:txBody>
      </p:sp>
      <p:sp>
        <p:nvSpPr>
          <p:cNvPr id="353" name="Google Shape;353;p37"/>
          <p:cNvSpPr txBox="1"/>
          <p:nvPr/>
        </p:nvSpPr>
        <p:spPr>
          <a:xfrm>
            <a:off x="749450" y="718475"/>
            <a:ext cx="471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EDB12"/>
                </a:solidFill>
                <a:latin typeface="Lato Black"/>
                <a:ea typeface="Lato Black"/>
                <a:cs typeface="Lato Black"/>
                <a:sym typeface="Lato Black"/>
              </a:rPr>
              <a:t>USE CASE DIAGRAM</a:t>
            </a:r>
            <a:endParaRPr sz="700">
              <a:solidFill>
                <a:srgbClr val="5EDB1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54" name="Google Shape;354;p37"/>
          <p:cNvSpPr txBox="1"/>
          <p:nvPr/>
        </p:nvSpPr>
        <p:spPr>
          <a:xfrm>
            <a:off x="817049" y="3286025"/>
            <a:ext cx="3167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pic>
        <p:nvPicPr>
          <p:cNvPr id="355" name="Google Shape;35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1225" y="1028088"/>
            <a:ext cx="7408175" cy="3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7"/>
          <p:cNvSpPr/>
          <p:nvPr/>
        </p:nvSpPr>
        <p:spPr>
          <a:xfrm rot="10800000">
            <a:off x="8084761" y="-443768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949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7"/>
          <p:cNvSpPr/>
          <p:nvPr/>
        </p:nvSpPr>
        <p:spPr>
          <a:xfrm rot="10800000">
            <a:off x="-618714" y="4314758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949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7"/>
          <p:cNvSpPr/>
          <p:nvPr/>
        </p:nvSpPr>
        <p:spPr>
          <a:xfrm>
            <a:off x="7001298" y="2364585"/>
            <a:ext cx="1047750" cy="9842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7"/>
          <p:cNvSpPr/>
          <p:nvPr/>
        </p:nvSpPr>
        <p:spPr>
          <a:xfrm>
            <a:off x="782946" y="1407872"/>
            <a:ext cx="857250" cy="825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7"/>
          <p:cNvSpPr/>
          <p:nvPr/>
        </p:nvSpPr>
        <p:spPr>
          <a:xfrm>
            <a:off x="2115546" y="4107247"/>
            <a:ext cx="857250" cy="825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7"/>
          <p:cNvSpPr/>
          <p:nvPr/>
        </p:nvSpPr>
        <p:spPr>
          <a:xfrm>
            <a:off x="6267571" y="783772"/>
            <a:ext cx="857250" cy="825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7"/>
          <p:cNvSpPr/>
          <p:nvPr/>
        </p:nvSpPr>
        <p:spPr>
          <a:xfrm rot="10800000">
            <a:off x="8241025" y="4361254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7"/>
          <p:cNvSpPr txBox="1"/>
          <p:nvPr/>
        </p:nvSpPr>
        <p:spPr>
          <a:xfrm>
            <a:off x="8241025" y="441615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E08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8"/>
          <p:cNvSpPr/>
          <p:nvPr/>
        </p:nvSpPr>
        <p:spPr>
          <a:xfrm>
            <a:off x="-38375" y="-30700"/>
            <a:ext cx="9182400" cy="517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8"/>
          <p:cNvSpPr/>
          <p:nvPr/>
        </p:nvSpPr>
        <p:spPr>
          <a:xfrm>
            <a:off x="3444113" y="3518434"/>
            <a:ext cx="418403" cy="413078"/>
          </a:xfrm>
          <a:custGeom>
            <a:rect b="b" l="l" r="r" t="t"/>
            <a:pathLst>
              <a:path extrusionOk="0" h="826156" w="836806">
                <a:moveTo>
                  <a:pt x="0" y="0"/>
                </a:moveTo>
                <a:lnTo>
                  <a:pt x="836807" y="0"/>
                </a:lnTo>
                <a:lnTo>
                  <a:pt x="836807" y="826156"/>
                </a:lnTo>
                <a:lnTo>
                  <a:pt x="0" y="8261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0" name="Google Shape;370;p38"/>
          <p:cNvSpPr/>
          <p:nvPr/>
        </p:nvSpPr>
        <p:spPr>
          <a:xfrm rot="10800000">
            <a:off x="4416675" y="2144135"/>
            <a:ext cx="310651" cy="310651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3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8"/>
          <p:cNvSpPr/>
          <p:nvPr/>
        </p:nvSpPr>
        <p:spPr>
          <a:xfrm rot="10800000">
            <a:off x="261775" y="4485913"/>
            <a:ext cx="444500" cy="46037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3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8"/>
          <p:cNvSpPr/>
          <p:nvPr/>
        </p:nvSpPr>
        <p:spPr>
          <a:xfrm rot="10800000">
            <a:off x="8194350" y="4343404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8"/>
          <p:cNvSpPr txBox="1"/>
          <p:nvPr/>
        </p:nvSpPr>
        <p:spPr>
          <a:xfrm>
            <a:off x="8194350" y="439830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800" y="829100"/>
            <a:ext cx="8828399" cy="3224301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8"/>
          <p:cNvSpPr txBox="1"/>
          <p:nvPr/>
        </p:nvSpPr>
        <p:spPr>
          <a:xfrm>
            <a:off x="157800" y="130525"/>
            <a:ext cx="442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5EDB12"/>
                </a:solidFill>
                <a:latin typeface="Lato Black"/>
                <a:ea typeface="Lato Black"/>
                <a:cs typeface="Lato Black"/>
                <a:sym typeface="Lato Black"/>
              </a:rPr>
              <a:t>PROJECT TIMELINE</a:t>
            </a:r>
            <a:endParaRPr sz="2200">
              <a:solidFill>
                <a:srgbClr val="5EDB1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cxnSp>
        <p:nvCxnSpPr>
          <p:cNvPr id="376" name="Google Shape;376;p38"/>
          <p:cNvCxnSpPr/>
          <p:nvPr/>
        </p:nvCxnSpPr>
        <p:spPr>
          <a:xfrm>
            <a:off x="779488" y="4716113"/>
            <a:ext cx="529800" cy="0"/>
          </a:xfrm>
          <a:prstGeom prst="straightConnector1">
            <a:avLst/>
          </a:prstGeom>
          <a:noFill/>
          <a:ln cap="flat" cmpd="sng" w="38100">
            <a:solidFill>
              <a:srgbClr val="5EDB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38"/>
          <p:cNvCxnSpPr/>
          <p:nvPr/>
        </p:nvCxnSpPr>
        <p:spPr>
          <a:xfrm>
            <a:off x="1900213" y="4716113"/>
            <a:ext cx="529800" cy="0"/>
          </a:xfrm>
          <a:prstGeom prst="straightConnector1">
            <a:avLst/>
          </a:prstGeom>
          <a:noFill/>
          <a:ln cap="flat" cmpd="sng" w="38100">
            <a:solidFill>
              <a:srgbClr val="5EDB1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38"/>
          <p:cNvSpPr/>
          <p:nvPr/>
        </p:nvSpPr>
        <p:spPr>
          <a:xfrm rot="10800000">
            <a:off x="1382500" y="4485913"/>
            <a:ext cx="444500" cy="46037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8"/>
          <p:cNvSpPr/>
          <p:nvPr/>
        </p:nvSpPr>
        <p:spPr>
          <a:xfrm rot="10800000">
            <a:off x="2503225" y="4485913"/>
            <a:ext cx="444500" cy="46037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8"/>
          <p:cNvSpPr/>
          <p:nvPr/>
        </p:nvSpPr>
        <p:spPr>
          <a:xfrm rot="10800000">
            <a:off x="8194361" y="-558918"/>
            <a:ext cx="1301750" cy="1301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9"/>
          <p:cNvSpPr/>
          <p:nvPr/>
        </p:nvSpPr>
        <p:spPr>
          <a:xfrm>
            <a:off x="514350" y="354538"/>
            <a:ext cx="168672" cy="159812"/>
          </a:xfrm>
          <a:custGeom>
            <a:rect b="b" l="l" r="r" t="t"/>
            <a:pathLst>
              <a:path extrusionOk="0" h="319624" w="337343">
                <a:moveTo>
                  <a:pt x="0" y="0"/>
                </a:moveTo>
                <a:lnTo>
                  <a:pt x="337343" y="0"/>
                </a:lnTo>
                <a:lnTo>
                  <a:pt x="337343" y="319624"/>
                </a:lnTo>
                <a:lnTo>
                  <a:pt x="0" y="31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6" name="Google Shape;386;p39"/>
          <p:cNvSpPr/>
          <p:nvPr/>
        </p:nvSpPr>
        <p:spPr>
          <a:xfrm>
            <a:off x="920981" y="3544952"/>
            <a:ext cx="576508" cy="576508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9"/>
          <p:cNvSpPr/>
          <p:nvPr/>
        </p:nvSpPr>
        <p:spPr>
          <a:xfrm>
            <a:off x="-242511" y="3956242"/>
            <a:ext cx="1307885" cy="130788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9"/>
          <p:cNvSpPr/>
          <p:nvPr/>
        </p:nvSpPr>
        <p:spPr>
          <a:xfrm rot="10800000">
            <a:off x="7646511" y="692763"/>
            <a:ext cx="576508" cy="576508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66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9"/>
          <p:cNvSpPr/>
          <p:nvPr/>
        </p:nvSpPr>
        <p:spPr>
          <a:xfrm rot="10800000">
            <a:off x="8078626" y="-449902"/>
            <a:ext cx="1307885" cy="130788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9"/>
          <p:cNvSpPr/>
          <p:nvPr/>
        </p:nvSpPr>
        <p:spPr>
          <a:xfrm>
            <a:off x="2000250" y="-2571750"/>
            <a:ext cx="5143500" cy="5143500"/>
          </a:xfrm>
          <a:custGeom>
            <a:rect b="b" l="l" r="r" t="t"/>
            <a:pathLst>
              <a:path extrusionOk="0" h="1708150" w="1708150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5EDB1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9"/>
          <p:cNvSpPr txBox="1"/>
          <p:nvPr/>
        </p:nvSpPr>
        <p:spPr>
          <a:xfrm>
            <a:off x="780179" y="367134"/>
            <a:ext cx="86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EDB12"/>
                </a:solidFill>
                <a:latin typeface="Open Sans"/>
                <a:ea typeface="Open Sans"/>
                <a:cs typeface="Open Sans"/>
                <a:sym typeface="Open Sans"/>
              </a:rPr>
              <a:t>CropScope</a:t>
            </a:r>
            <a:endParaRPr sz="700">
              <a:solidFill>
                <a:srgbClr val="5EDB12"/>
              </a:solidFill>
            </a:endParaRPr>
          </a:p>
        </p:txBody>
      </p:sp>
      <p:sp>
        <p:nvSpPr>
          <p:cNvPr id="392" name="Google Shape;392;p39"/>
          <p:cNvSpPr txBox="1"/>
          <p:nvPr/>
        </p:nvSpPr>
        <p:spPr>
          <a:xfrm>
            <a:off x="7540180" y="4614863"/>
            <a:ext cx="1089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93" name="Google Shape;393;p39"/>
          <p:cNvSpPr txBox="1"/>
          <p:nvPr/>
        </p:nvSpPr>
        <p:spPr>
          <a:xfrm>
            <a:off x="514350" y="2620642"/>
            <a:ext cx="8115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500" u="none" cap="none" strike="noStrike">
                <a:solidFill>
                  <a:srgbClr val="5EDB1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THANK YOU</a:t>
            </a:r>
            <a:endParaRPr sz="700">
              <a:solidFill>
                <a:srgbClr val="5EDB12"/>
              </a:solidFill>
            </a:endParaRPr>
          </a:p>
        </p:txBody>
      </p:sp>
      <p:sp>
        <p:nvSpPr>
          <p:cNvPr id="394" name="Google Shape;394;p39"/>
          <p:cNvSpPr txBox="1"/>
          <p:nvPr/>
        </p:nvSpPr>
        <p:spPr>
          <a:xfrm>
            <a:off x="1730137" y="3944986"/>
            <a:ext cx="5683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95" name="Google Shape;395;p39"/>
          <p:cNvSpPr/>
          <p:nvPr/>
        </p:nvSpPr>
        <p:spPr>
          <a:xfrm rot="10800000">
            <a:off x="8223025" y="4382979"/>
            <a:ext cx="571500" cy="571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EDB12">
              <a:alpha val="6980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9"/>
          <p:cNvSpPr txBox="1"/>
          <p:nvPr/>
        </p:nvSpPr>
        <p:spPr>
          <a:xfrm>
            <a:off x="8223025" y="4437863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