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4224000" cy="20104100"/>
  <p:notesSz cx="14224000" cy="201041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456" y="-53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66800" y="6232271"/>
            <a:ext cx="12090400" cy="422186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133600" y="11258296"/>
            <a:ext cx="9956800" cy="50260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711200" y="4623943"/>
            <a:ext cx="6187440"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325360" y="4623943"/>
            <a:ext cx="6187440" cy="1326870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2"/>
            <a:ext cx="14218923" cy="2522320"/>
          </a:xfrm>
          <a:prstGeom prst="rect">
            <a:avLst/>
          </a:prstGeom>
        </p:spPr>
      </p:pic>
      <p:sp>
        <p:nvSpPr>
          <p:cNvPr id="17" name="bg object 17"/>
          <p:cNvSpPr/>
          <p:nvPr/>
        </p:nvSpPr>
        <p:spPr>
          <a:xfrm>
            <a:off x="0" y="0"/>
            <a:ext cx="14218919" cy="2522855"/>
          </a:xfrm>
          <a:custGeom>
            <a:avLst/>
            <a:gdLst/>
            <a:ahLst/>
            <a:cxnLst/>
            <a:rect l="l" t="t" r="r" b="b"/>
            <a:pathLst>
              <a:path w="14218919" h="2522855">
                <a:moveTo>
                  <a:pt x="14218924" y="0"/>
                </a:moveTo>
                <a:lnTo>
                  <a:pt x="0" y="0"/>
                </a:lnTo>
                <a:lnTo>
                  <a:pt x="0" y="2522319"/>
                </a:lnTo>
                <a:lnTo>
                  <a:pt x="6084255" y="2522319"/>
                </a:lnTo>
                <a:lnTo>
                  <a:pt x="14218924" y="2522319"/>
                </a:lnTo>
                <a:lnTo>
                  <a:pt x="14218924" y="0"/>
                </a:lnTo>
                <a:close/>
              </a:path>
            </a:pathLst>
          </a:custGeom>
          <a:solidFill>
            <a:srgbClr val="008F00"/>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225786" y="246528"/>
            <a:ext cx="980581" cy="1244486"/>
          </a:xfrm>
          <a:prstGeom prst="rect">
            <a:avLst/>
          </a:prstGeom>
        </p:spPr>
      </p:pic>
      <p:sp>
        <p:nvSpPr>
          <p:cNvPr id="2" name="Holder 2"/>
          <p:cNvSpPr>
            <a:spLocks noGrp="1"/>
          </p:cNvSpPr>
          <p:nvPr>
            <p:ph type="title"/>
          </p:nvPr>
        </p:nvSpPr>
        <p:spPr>
          <a:xfrm>
            <a:off x="711200" y="804164"/>
            <a:ext cx="12801600" cy="32166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711200" y="4623943"/>
            <a:ext cx="12801600"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836160" y="18696814"/>
            <a:ext cx="4551680" cy="100520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11200" y="18696814"/>
            <a:ext cx="3271520" cy="1005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7/22/2024</a:t>
            </a:fld>
            <a:endParaRPr lang="en-US"/>
          </a:p>
        </p:txBody>
      </p:sp>
      <p:sp>
        <p:nvSpPr>
          <p:cNvPr id="6" name="Holder 6"/>
          <p:cNvSpPr>
            <a:spLocks noGrp="1"/>
          </p:cNvSpPr>
          <p:nvPr>
            <p:ph type="sldNum" sz="quarter" idx="7"/>
          </p:nvPr>
        </p:nvSpPr>
        <p:spPr>
          <a:xfrm>
            <a:off x="10241280" y="18696814"/>
            <a:ext cx="3271520" cy="1005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mailto:peadjei.coe@knust.edu.gh" TargetMode="External"/><Relationship Id="rId7" Type="http://schemas.openxmlformats.org/officeDocument/2006/relationships/image" Target="../media/image5.jpg"/><Relationship Id="rId2" Type="http://schemas.openxmlformats.org/officeDocument/2006/relationships/hyperlink" Target="http://www.knust.edu.gh/" TargetMode="External"/><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hyperlink" Target="mailto:compeng@knust.edu.gh"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1218" y="1459025"/>
            <a:ext cx="923290" cy="394335"/>
          </a:xfrm>
          <a:prstGeom prst="rect">
            <a:avLst/>
          </a:prstGeom>
        </p:spPr>
        <p:txBody>
          <a:bodyPr vert="horz" wrap="square" lIns="0" tIns="14604" rIns="0" bIns="0" rtlCol="0">
            <a:spAutoFit/>
          </a:bodyPr>
          <a:lstStyle/>
          <a:p>
            <a:pPr marL="12700">
              <a:lnSpc>
                <a:spcPct val="100000"/>
              </a:lnSpc>
              <a:spcBef>
                <a:spcPts val="114"/>
              </a:spcBef>
            </a:pPr>
            <a:r>
              <a:rPr sz="2400" b="1" spc="-445" dirty="0">
                <a:solidFill>
                  <a:srgbClr val="FDFDFD"/>
                </a:solidFill>
                <a:latin typeface="Verdana"/>
                <a:cs typeface="Verdana"/>
              </a:rPr>
              <a:t>KNUST</a:t>
            </a:r>
            <a:endParaRPr sz="2400">
              <a:latin typeface="Verdana"/>
              <a:cs typeface="Verdana"/>
            </a:endParaRPr>
          </a:p>
        </p:txBody>
      </p:sp>
      <p:sp>
        <p:nvSpPr>
          <p:cNvPr id="3" name="object 3"/>
          <p:cNvSpPr txBox="1"/>
          <p:nvPr/>
        </p:nvSpPr>
        <p:spPr>
          <a:xfrm>
            <a:off x="291257" y="1791800"/>
            <a:ext cx="929640" cy="147320"/>
          </a:xfrm>
          <a:prstGeom prst="rect">
            <a:avLst/>
          </a:prstGeom>
        </p:spPr>
        <p:txBody>
          <a:bodyPr vert="horz" wrap="square" lIns="0" tIns="12065" rIns="0" bIns="0" rtlCol="0">
            <a:spAutoFit/>
          </a:bodyPr>
          <a:lstStyle/>
          <a:p>
            <a:pPr marL="12700">
              <a:lnSpc>
                <a:spcPct val="100000"/>
              </a:lnSpc>
              <a:spcBef>
                <a:spcPts val="95"/>
              </a:spcBef>
            </a:pPr>
            <a:r>
              <a:rPr sz="800" b="1" spc="-95" dirty="0">
                <a:solidFill>
                  <a:srgbClr val="FDF000"/>
                </a:solidFill>
                <a:latin typeface="Verdana"/>
                <a:cs typeface="Verdana"/>
                <a:hlinkClick r:id="rId2"/>
              </a:rPr>
              <a:t>www.knust.edu.gh</a:t>
            </a:r>
            <a:endParaRPr sz="800">
              <a:latin typeface="Verdana"/>
              <a:cs typeface="Verdana"/>
            </a:endParaRPr>
          </a:p>
        </p:txBody>
      </p:sp>
      <p:sp>
        <p:nvSpPr>
          <p:cNvPr id="4" name="object 4"/>
          <p:cNvSpPr txBox="1"/>
          <p:nvPr/>
        </p:nvSpPr>
        <p:spPr>
          <a:xfrm>
            <a:off x="780072" y="345219"/>
            <a:ext cx="11387631" cy="874598"/>
          </a:xfrm>
          <a:prstGeom prst="rect">
            <a:avLst/>
          </a:prstGeom>
        </p:spPr>
        <p:txBody>
          <a:bodyPr vert="horz" wrap="square" lIns="0" tIns="12700" rIns="0" bIns="0" rtlCol="0">
            <a:spAutoFit/>
          </a:bodyPr>
          <a:lstStyle/>
          <a:p>
            <a:pPr marL="1242060" marR="5080" indent="-1229995" algn="r">
              <a:lnSpc>
                <a:spcPct val="100000"/>
              </a:lnSpc>
              <a:spcBef>
                <a:spcPts val="100"/>
              </a:spcBef>
            </a:pPr>
            <a:r>
              <a:rPr lang="en-US" sz="2800" b="1" dirty="0">
                <a:solidFill>
                  <a:srgbClr val="E7E6E6"/>
                </a:solidFill>
                <a:latin typeface="Tahoma"/>
                <a:cs typeface="Tahoma"/>
              </a:rPr>
              <a:t>ALLOCATION OF SENSORS TO MONITOR VITAL SOIL AND ATMOSPHERIC FACTORS THAT AFFECT PLANT GROWTH</a:t>
            </a:r>
            <a:endParaRPr sz="2800" dirty="0">
              <a:latin typeface="Tahoma"/>
              <a:cs typeface="Tahoma"/>
            </a:endParaRPr>
          </a:p>
        </p:txBody>
      </p:sp>
      <p:sp>
        <p:nvSpPr>
          <p:cNvPr id="5" name="object 5"/>
          <p:cNvSpPr txBox="1"/>
          <p:nvPr/>
        </p:nvSpPr>
        <p:spPr>
          <a:xfrm>
            <a:off x="10134111" y="1344315"/>
            <a:ext cx="1500920" cy="300723"/>
          </a:xfrm>
          <a:prstGeom prst="rect">
            <a:avLst/>
          </a:prstGeom>
        </p:spPr>
        <p:txBody>
          <a:bodyPr vert="horz" wrap="square" lIns="0" tIns="15875" rIns="0" bIns="0" rtlCol="0">
            <a:spAutoFit/>
          </a:bodyPr>
          <a:lstStyle/>
          <a:p>
            <a:pPr marL="38100">
              <a:lnSpc>
                <a:spcPct val="100000"/>
              </a:lnSpc>
              <a:spcBef>
                <a:spcPts val="125"/>
              </a:spcBef>
            </a:pPr>
            <a:r>
              <a:rPr lang="en-US" sz="1850" b="1" spc="-135" dirty="0">
                <a:solidFill>
                  <a:srgbClr val="FFFFFF"/>
                </a:solidFill>
                <a:latin typeface="Tahoma"/>
                <a:cs typeface="Tahoma"/>
              </a:rPr>
              <a:t>D. U. </a:t>
            </a:r>
            <a:r>
              <a:rPr lang="en-US" sz="1850" b="1" spc="-135" dirty="0" err="1">
                <a:solidFill>
                  <a:srgbClr val="FFFFFF"/>
                </a:solidFill>
                <a:latin typeface="Tahoma"/>
                <a:cs typeface="Tahoma"/>
              </a:rPr>
              <a:t>Akaya</a:t>
            </a:r>
            <a:r>
              <a:rPr sz="1875" b="1" spc="-60" baseline="24444" dirty="0">
                <a:solidFill>
                  <a:srgbClr val="FFFFFF"/>
                </a:solidFill>
                <a:latin typeface="Tahoma"/>
                <a:cs typeface="Tahoma"/>
              </a:rPr>
              <a:t>*1</a:t>
            </a:r>
            <a:endParaRPr sz="1875" baseline="24444" dirty="0">
              <a:latin typeface="Tahoma"/>
              <a:cs typeface="Tahoma"/>
            </a:endParaRPr>
          </a:p>
        </p:txBody>
      </p:sp>
      <p:sp>
        <p:nvSpPr>
          <p:cNvPr id="6" name="object 6"/>
          <p:cNvSpPr txBox="1"/>
          <p:nvPr/>
        </p:nvSpPr>
        <p:spPr>
          <a:xfrm>
            <a:off x="3136601" y="1344315"/>
            <a:ext cx="6915150" cy="1102995"/>
          </a:xfrm>
          <a:prstGeom prst="rect">
            <a:avLst/>
          </a:prstGeom>
        </p:spPr>
        <p:txBody>
          <a:bodyPr vert="horz" wrap="square" lIns="0" tIns="15875" rIns="0" bIns="0" rtlCol="0">
            <a:spAutoFit/>
          </a:bodyPr>
          <a:lstStyle/>
          <a:p>
            <a:pPr marL="76200">
              <a:lnSpc>
                <a:spcPct val="100000"/>
              </a:lnSpc>
              <a:spcBef>
                <a:spcPts val="125"/>
              </a:spcBef>
              <a:tabLst>
                <a:tab pos="1882775" algn="l"/>
                <a:tab pos="4492625" algn="l"/>
              </a:tabLst>
            </a:pPr>
            <a:r>
              <a:rPr lang="en-US" sz="1850" b="1" spc="-215" dirty="0">
                <a:solidFill>
                  <a:srgbClr val="FFFFFF"/>
                </a:solidFill>
                <a:latin typeface="Tahoma"/>
                <a:cs typeface="Tahoma"/>
              </a:rPr>
              <a:t>A. J. Amoah</a:t>
            </a:r>
            <a:r>
              <a:rPr sz="1850" b="1" spc="-105" dirty="0">
                <a:solidFill>
                  <a:srgbClr val="FFFFFF"/>
                </a:solidFill>
                <a:latin typeface="Tahoma"/>
                <a:cs typeface="Tahoma"/>
              </a:rPr>
              <a:t> </a:t>
            </a:r>
            <a:r>
              <a:rPr sz="1875" b="1" spc="-75" baseline="24444" dirty="0">
                <a:solidFill>
                  <a:srgbClr val="FFFFFF"/>
                </a:solidFill>
                <a:latin typeface="Tahoma"/>
                <a:cs typeface="Tahoma"/>
              </a:rPr>
              <a:t>1</a:t>
            </a:r>
            <a:r>
              <a:rPr sz="1875" b="1" baseline="24444" dirty="0">
                <a:solidFill>
                  <a:srgbClr val="FFFFFF"/>
                </a:solidFill>
                <a:latin typeface="Tahoma"/>
                <a:cs typeface="Tahoma"/>
              </a:rPr>
              <a:t>	</a:t>
            </a:r>
            <a:r>
              <a:rPr lang="en-US" sz="1850" b="1" spc="-215" dirty="0">
                <a:solidFill>
                  <a:srgbClr val="FFFFFF"/>
                </a:solidFill>
                <a:latin typeface="Tahoma"/>
                <a:cs typeface="Tahoma"/>
              </a:rPr>
              <a:t>S. N. A. Bonney</a:t>
            </a:r>
            <a:r>
              <a:rPr sz="1850" b="1" spc="10" dirty="0">
                <a:solidFill>
                  <a:srgbClr val="FFFFFF"/>
                </a:solidFill>
                <a:latin typeface="Tahoma"/>
                <a:cs typeface="Tahoma"/>
              </a:rPr>
              <a:t> </a:t>
            </a:r>
            <a:r>
              <a:rPr sz="1875" b="1" spc="-75" baseline="24444" dirty="0">
                <a:solidFill>
                  <a:srgbClr val="FFFFFF"/>
                </a:solidFill>
                <a:latin typeface="Tahoma"/>
                <a:cs typeface="Tahoma"/>
              </a:rPr>
              <a:t>1</a:t>
            </a:r>
            <a:r>
              <a:rPr sz="1875" b="1" baseline="24444" dirty="0">
                <a:solidFill>
                  <a:srgbClr val="FFFFFF"/>
                </a:solidFill>
                <a:latin typeface="Tahoma"/>
                <a:cs typeface="Tahoma"/>
              </a:rPr>
              <a:t>	</a:t>
            </a:r>
            <a:r>
              <a:rPr lang="en-US" sz="1850" b="1" dirty="0">
                <a:solidFill>
                  <a:srgbClr val="FFFFFF"/>
                </a:solidFill>
                <a:latin typeface="Tahoma"/>
                <a:cs typeface="Tahoma"/>
              </a:rPr>
              <a:t>I. N. L. Lawson</a:t>
            </a:r>
            <a:r>
              <a:rPr sz="1875" b="1" spc="-75" baseline="24444" dirty="0">
                <a:solidFill>
                  <a:srgbClr val="FFFFFF"/>
                </a:solidFill>
                <a:latin typeface="Tahoma"/>
                <a:cs typeface="Tahoma"/>
              </a:rPr>
              <a:t>1</a:t>
            </a:r>
            <a:endParaRPr sz="1875" baseline="24444" dirty="0">
              <a:latin typeface="Tahoma"/>
              <a:cs typeface="Tahoma"/>
            </a:endParaRPr>
          </a:p>
          <a:p>
            <a:pPr marL="3069590">
              <a:lnSpc>
                <a:spcPct val="100000"/>
              </a:lnSpc>
              <a:spcBef>
                <a:spcPts val="965"/>
              </a:spcBef>
            </a:pPr>
            <a:r>
              <a:rPr sz="1250" b="1" spc="-260" dirty="0">
                <a:solidFill>
                  <a:srgbClr val="FFFFFF"/>
                </a:solidFill>
                <a:latin typeface="Tahoma"/>
                <a:cs typeface="Tahoma"/>
              </a:rPr>
              <a:t>*</a:t>
            </a:r>
            <a:r>
              <a:rPr sz="1250" b="1" spc="-20" dirty="0">
                <a:solidFill>
                  <a:srgbClr val="FFFFFF"/>
                </a:solidFill>
                <a:latin typeface="Tahoma"/>
                <a:cs typeface="Tahoma"/>
              </a:rPr>
              <a:t> </a:t>
            </a:r>
            <a:r>
              <a:rPr sz="1250" b="1" spc="-10" dirty="0">
                <a:solidFill>
                  <a:srgbClr val="FFFFFF"/>
                </a:solidFill>
                <a:latin typeface="Tahoma"/>
                <a:cs typeface="Tahoma"/>
                <a:hlinkClick r:id="rId3"/>
              </a:rPr>
              <a:t>peadjei.coe@knust.edu.gh</a:t>
            </a:r>
            <a:endParaRPr sz="1250" dirty="0">
              <a:latin typeface="Tahoma"/>
              <a:cs typeface="Tahoma"/>
            </a:endParaRPr>
          </a:p>
          <a:p>
            <a:pPr marL="1080770" marR="43180" indent="324485">
              <a:lnSpc>
                <a:spcPct val="101200"/>
              </a:lnSpc>
              <a:spcBef>
                <a:spcPts val="615"/>
              </a:spcBef>
            </a:pPr>
            <a:r>
              <a:rPr sz="1275" i="1" baseline="26143" dirty="0">
                <a:solidFill>
                  <a:srgbClr val="FFFFFF"/>
                </a:solidFill>
                <a:latin typeface="Verdana"/>
                <a:cs typeface="Verdana"/>
              </a:rPr>
              <a:t>1</a:t>
            </a:r>
            <a:r>
              <a:rPr sz="1275" i="1" spc="157" baseline="26143" dirty="0">
                <a:solidFill>
                  <a:srgbClr val="FFFFFF"/>
                </a:solidFill>
                <a:latin typeface="Verdana"/>
                <a:cs typeface="Verdana"/>
              </a:rPr>
              <a:t> </a:t>
            </a:r>
            <a:r>
              <a:rPr sz="1300" i="1" dirty="0">
                <a:solidFill>
                  <a:srgbClr val="FFFFFF"/>
                </a:solidFill>
                <a:latin typeface="Verdana"/>
                <a:cs typeface="Verdana"/>
              </a:rPr>
              <a:t>Department</a:t>
            </a:r>
            <a:r>
              <a:rPr sz="1300" i="1" spc="-30" dirty="0">
                <a:solidFill>
                  <a:srgbClr val="FFFFFF"/>
                </a:solidFill>
                <a:latin typeface="Verdana"/>
                <a:cs typeface="Verdana"/>
              </a:rPr>
              <a:t> </a:t>
            </a:r>
            <a:r>
              <a:rPr sz="1300" i="1" dirty="0">
                <a:solidFill>
                  <a:srgbClr val="FFFFFF"/>
                </a:solidFill>
                <a:latin typeface="Verdana"/>
                <a:cs typeface="Verdana"/>
              </a:rPr>
              <a:t>of</a:t>
            </a:r>
            <a:r>
              <a:rPr sz="1300" i="1" spc="-55" dirty="0">
                <a:solidFill>
                  <a:srgbClr val="FFFFFF"/>
                </a:solidFill>
                <a:latin typeface="Verdana"/>
                <a:cs typeface="Verdana"/>
              </a:rPr>
              <a:t> </a:t>
            </a:r>
            <a:r>
              <a:rPr sz="1300" i="1" dirty="0">
                <a:solidFill>
                  <a:srgbClr val="FFFFFF"/>
                </a:solidFill>
                <a:latin typeface="Verdana"/>
                <a:cs typeface="Verdana"/>
              </a:rPr>
              <a:t>Computer</a:t>
            </a:r>
            <a:r>
              <a:rPr sz="1300" i="1" spc="-45" dirty="0">
                <a:solidFill>
                  <a:srgbClr val="FFFFFF"/>
                </a:solidFill>
                <a:latin typeface="Verdana"/>
                <a:cs typeface="Verdana"/>
              </a:rPr>
              <a:t> </a:t>
            </a:r>
            <a:r>
              <a:rPr sz="1300" i="1" spc="-40" dirty="0">
                <a:solidFill>
                  <a:srgbClr val="FFFFFF"/>
                </a:solidFill>
                <a:latin typeface="Verdana"/>
                <a:cs typeface="Verdana"/>
              </a:rPr>
              <a:t>Engineering,</a:t>
            </a:r>
            <a:r>
              <a:rPr sz="1300" i="1" spc="-45" dirty="0">
                <a:solidFill>
                  <a:srgbClr val="FFFFFF"/>
                </a:solidFill>
                <a:latin typeface="Verdana"/>
                <a:cs typeface="Verdana"/>
              </a:rPr>
              <a:t> </a:t>
            </a:r>
            <a:r>
              <a:rPr sz="1300" i="1" dirty="0">
                <a:solidFill>
                  <a:srgbClr val="FFFFFF"/>
                </a:solidFill>
                <a:latin typeface="Verdana"/>
                <a:cs typeface="Verdana"/>
              </a:rPr>
              <a:t>College</a:t>
            </a:r>
            <a:r>
              <a:rPr sz="1300" i="1" spc="-35" dirty="0">
                <a:solidFill>
                  <a:srgbClr val="FFFFFF"/>
                </a:solidFill>
                <a:latin typeface="Verdana"/>
                <a:cs typeface="Verdana"/>
              </a:rPr>
              <a:t> </a:t>
            </a:r>
            <a:r>
              <a:rPr sz="1300" i="1" dirty="0">
                <a:solidFill>
                  <a:srgbClr val="FFFFFF"/>
                </a:solidFill>
                <a:latin typeface="Verdana"/>
                <a:cs typeface="Verdana"/>
              </a:rPr>
              <a:t>of</a:t>
            </a:r>
            <a:r>
              <a:rPr sz="1300" i="1" spc="-50" dirty="0">
                <a:solidFill>
                  <a:srgbClr val="FFFFFF"/>
                </a:solidFill>
                <a:latin typeface="Verdana"/>
                <a:cs typeface="Verdana"/>
              </a:rPr>
              <a:t> </a:t>
            </a:r>
            <a:r>
              <a:rPr sz="1300" i="1" spc="-10" dirty="0">
                <a:solidFill>
                  <a:srgbClr val="FFFFFF"/>
                </a:solidFill>
                <a:latin typeface="Verdana"/>
                <a:cs typeface="Verdana"/>
              </a:rPr>
              <a:t>Engineering </a:t>
            </a:r>
            <a:r>
              <a:rPr sz="1300" i="1" dirty="0">
                <a:solidFill>
                  <a:srgbClr val="FFFFFF"/>
                </a:solidFill>
                <a:latin typeface="Verdana"/>
                <a:cs typeface="Verdana"/>
              </a:rPr>
              <a:t>Kwame</a:t>
            </a:r>
            <a:r>
              <a:rPr sz="1300" i="1" spc="-60" dirty="0">
                <a:solidFill>
                  <a:srgbClr val="FFFFFF"/>
                </a:solidFill>
                <a:latin typeface="Verdana"/>
                <a:cs typeface="Verdana"/>
              </a:rPr>
              <a:t> </a:t>
            </a:r>
            <a:r>
              <a:rPr sz="1300" i="1" spc="-40" dirty="0">
                <a:solidFill>
                  <a:srgbClr val="FFFFFF"/>
                </a:solidFill>
                <a:latin typeface="Verdana"/>
                <a:cs typeface="Verdana"/>
              </a:rPr>
              <a:t>Nkrumah</a:t>
            </a:r>
            <a:r>
              <a:rPr sz="1300" i="1" spc="-55" dirty="0">
                <a:solidFill>
                  <a:srgbClr val="FFFFFF"/>
                </a:solidFill>
                <a:latin typeface="Verdana"/>
                <a:cs typeface="Verdana"/>
              </a:rPr>
              <a:t> </a:t>
            </a:r>
            <a:r>
              <a:rPr sz="1300" i="1" spc="-80" dirty="0">
                <a:solidFill>
                  <a:srgbClr val="FFFFFF"/>
                </a:solidFill>
                <a:latin typeface="Verdana"/>
                <a:cs typeface="Verdana"/>
              </a:rPr>
              <a:t>University</a:t>
            </a:r>
            <a:r>
              <a:rPr sz="1300" i="1" spc="-55" dirty="0">
                <a:solidFill>
                  <a:srgbClr val="FFFFFF"/>
                </a:solidFill>
                <a:latin typeface="Verdana"/>
                <a:cs typeface="Verdana"/>
              </a:rPr>
              <a:t> </a:t>
            </a:r>
            <a:r>
              <a:rPr sz="1300" i="1" dirty="0">
                <a:solidFill>
                  <a:srgbClr val="FFFFFF"/>
                </a:solidFill>
                <a:latin typeface="Verdana"/>
                <a:cs typeface="Verdana"/>
              </a:rPr>
              <a:t>of</a:t>
            </a:r>
            <a:r>
              <a:rPr sz="1300" i="1" spc="-65" dirty="0">
                <a:solidFill>
                  <a:srgbClr val="FFFFFF"/>
                </a:solidFill>
                <a:latin typeface="Verdana"/>
                <a:cs typeface="Verdana"/>
              </a:rPr>
              <a:t> </a:t>
            </a:r>
            <a:r>
              <a:rPr sz="1300" i="1" dirty="0">
                <a:solidFill>
                  <a:srgbClr val="FFFFFF"/>
                </a:solidFill>
                <a:latin typeface="Verdana"/>
                <a:cs typeface="Verdana"/>
              </a:rPr>
              <a:t>Science</a:t>
            </a:r>
            <a:r>
              <a:rPr sz="1300" i="1" spc="-45" dirty="0">
                <a:solidFill>
                  <a:srgbClr val="FFFFFF"/>
                </a:solidFill>
                <a:latin typeface="Verdana"/>
                <a:cs typeface="Verdana"/>
              </a:rPr>
              <a:t> </a:t>
            </a:r>
            <a:r>
              <a:rPr sz="1300" i="1" spc="50" dirty="0">
                <a:solidFill>
                  <a:srgbClr val="FFFFFF"/>
                </a:solidFill>
                <a:latin typeface="Verdana"/>
                <a:cs typeface="Verdana"/>
              </a:rPr>
              <a:t>and</a:t>
            </a:r>
            <a:r>
              <a:rPr sz="1300" i="1" spc="-60" dirty="0">
                <a:solidFill>
                  <a:srgbClr val="FFFFFF"/>
                </a:solidFill>
                <a:latin typeface="Verdana"/>
                <a:cs typeface="Verdana"/>
              </a:rPr>
              <a:t> </a:t>
            </a:r>
            <a:r>
              <a:rPr sz="1300" i="1" dirty="0">
                <a:solidFill>
                  <a:srgbClr val="FFFFFF"/>
                </a:solidFill>
                <a:latin typeface="Verdana"/>
                <a:cs typeface="Verdana"/>
              </a:rPr>
              <a:t>Technology</a:t>
            </a:r>
            <a:r>
              <a:rPr sz="1300" i="1" spc="-35" dirty="0">
                <a:solidFill>
                  <a:srgbClr val="FFFFFF"/>
                </a:solidFill>
                <a:latin typeface="Verdana"/>
                <a:cs typeface="Verdana"/>
              </a:rPr>
              <a:t> </a:t>
            </a:r>
            <a:r>
              <a:rPr sz="1300" i="1" spc="-135" dirty="0">
                <a:solidFill>
                  <a:srgbClr val="FFFFFF"/>
                </a:solidFill>
                <a:latin typeface="Verdana"/>
                <a:cs typeface="Verdana"/>
              </a:rPr>
              <a:t>(KNUST),</a:t>
            </a:r>
            <a:r>
              <a:rPr sz="1300" i="1" spc="-55" dirty="0">
                <a:solidFill>
                  <a:srgbClr val="FFFFFF"/>
                </a:solidFill>
                <a:latin typeface="Verdana"/>
                <a:cs typeface="Verdana"/>
              </a:rPr>
              <a:t> </a:t>
            </a:r>
            <a:r>
              <a:rPr sz="1300" i="1" spc="40" dirty="0">
                <a:solidFill>
                  <a:srgbClr val="FFFFFF"/>
                </a:solidFill>
                <a:latin typeface="Verdana"/>
                <a:cs typeface="Verdana"/>
              </a:rPr>
              <a:t>Ghana</a:t>
            </a:r>
            <a:endParaRPr sz="1300" dirty="0">
              <a:latin typeface="Verdana"/>
              <a:cs typeface="Verdana"/>
            </a:endParaRPr>
          </a:p>
        </p:txBody>
      </p:sp>
      <p:sp>
        <p:nvSpPr>
          <p:cNvPr id="7" name="object 7"/>
          <p:cNvSpPr/>
          <p:nvPr/>
        </p:nvSpPr>
        <p:spPr>
          <a:xfrm>
            <a:off x="0" y="19486249"/>
            <a:ext cx="14218919" cy="617855"/>
          </a:xfrm>
          <a:custGeom>
            <a:avLst/>
            <a:gdLst/>
            <a:ahLst/>
            <a:cxnLst/>
            <a:rect l="l" t="t" r="r" b="b"/>
            <a:pathLst>
              <a:path w="14218919" h="617855">
                <a:moveTo>
                  <a:pt x="14218924" y="0"/>
                </a:moveTo>
                <a:lnTo>
                  <a:pt x="0" y="0"/>
                </a:lnTo>
                <a:lnTo>
                  <a:pt x="0" y="617845"/>
                </a:lnTo>
                <a:lnTo>
                  <a:pt x="14218924" y="617845"/>
                </a:lnTo>
                <a:lnTo>
                  <a:pt x="14218924" y="0"/>
                </a:lnTo>
                <a:close/>
              </a:path>
            </a:pathLst>
          </a:custGeom>
          <a:solidFill>
            <a:srgbClr val="29913E"/>
          </a:solidFill>
        </p:spPr>
        <p:txBody>
          <a:bodyPr wrap="square" lIns="0" tIns="0" rIns="0" bIns="0" rtlCol="0"/>
          <a:lstStyle/>
          <a:p>
            <a:endParaRPr/>
          </a:p>
        </p:txBody>
      </p:sp>
      <p:sp>
        <p:nvSpPr>
          <p:cNvPr id="8" name="object 8"/>
          <p:cNvSpPr txBox="1"/>
          <p:nvPr/>
        </p:nvSpPr>
        <p:spPr>
          <a:xfrm>
            <a:off x="92187" y="2539810"/>
            <a:ext cx="6884670" cy="412115"/>
          </a:xfrm>
          <a:prstGeom prst="rect">
            <a:avLst/>
          </a:prstGeom>
        </p:spPr>
        <p:txBody>
          <a:bodyPr vert="horz" wrap="square" lIns="0" tIns="17145" rIns="0" bIns="0" rtlCol="0">
            <a:spAutoFit/>
          </a:bodyPr>
          <a:lstStyle/>
          <a:p>
            <a:pPr marL="12700">
              <a:lnSpc>
                <a:spcPct val="100000"/>
              </a:lnSpc>
              <a:spcBef>
                <a:spcPts val="135"/>
              </a:spcBef>
              <a:tabLst>
                <a:tab pos="2383790" algn="l"/>
                <a:tab pos="6871334"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INTRODUCTION</a:t>
            </a:r>
            <a:r>
              <a:rPr sz="2500" b="1" u="sng" dirty="0">
                <a:solidFill>
                  <a:srgbClr val="008F00"/>
                </a:solidFill>
                <a:uFill>
                  <a:solidFill>
                    <a:srgbClr val="008F00"/>
                  </a:solidFill>
                </a:uFill>
                <a:latin typeface="Calibri"/>
                <a:cs typeface="Calibri"/>
              </a:rPr>
              <a:t>	</a:t>
            </a:r>
            <a:endParaRPr sz="2500">
              <a:latin typeface="Calibri"/>
              <a:cs typeface="Calibri"/>
            </a:endParaRPr>
          </a:p>
        </p:txBody>
      </p:sp>
      <p:sp>
        <p:nvSpPr>
          <p:cNvPr id="14" name="object 14"/>
          <p:cNvSpPr txBox="1"/>
          <p:nvPr/>
        </p:nvSpPr>
        <p:spPr>
          <a:xfrm>
            <a:off x="207553" y="6540917"/>
            <a:ext cx="6859270" cy="1217000"/>
          </a:xfrm>
          <a:prstGeom prst="rect">
            <a:avLst/>
          </a:prstGeom>
          <a:solidFill>
            <a:srgbClr val="92D050"/>
          </a:solidFill>
        </p:spPr>
        <p:txBody>
          <a:bodyPr vert="horz" wrap="square" lIns="0" tIns="11430" rIns="0" bIns="0" rtlCol="0">
            <a:spAutoFit/>
          </a:bodyPr>
          <a:lstStyle/>
          <a:p>
            <a:pPr marL="137160">
              <a:lnSpc>
                <a:spcPct val="100000"/>
              </a:lnSpc>
              <a:spcBef>
                <a:spcPts val="90"/>
              </a:spcBef>
            </a:pPr>
            <a:endParaRPr lang="en-US" sz="1500" dirty="0">
              <a:latin typeface="Calibri"/>
              <a:cs typeface="Calibri"/>
            </a:endParaRPr>
          </a:p>
          <a:p>
            <a:pPr marL="137160">
              <a:lnSpc>
                <a:spcPct val="100000"/>
              </a:lnSpc>
              <a:spcBef>
                <a:spcPts val="90"/>
              </a:spcBef>
            </a:pPr>
            <a:endParaRPr lang="en-US" sz="1500" dirty="0">
              <a:latin typeface="Calibri"/>
              <a:cs typeface="Calibri"/>
            </a:endParaRPr>
          </a:p>
          <a:p>
            <a:pPr marL="137160">
              <a:lnSpc>
                <a:spcPct val="100000"/>
              </a:lnSpc>
              <a:spcBef>
                <a:spcPts val="90"/>
              </a:spcBef>
            </a:pPr>
            <a:endParaRPr lang="en-US" sz="1500" dirty="0">
              <a:latin typeface="Calibri"/>
              <a:cs typeface="Calibri"/>
            </a:endParaRPr>
          </a:p>
          <a:p>
            <a:pPr marL="137160">
              <a:lnSpc>
                <a:spcPct val="100000"/>
              </a:lnSpc>
              <a:spcBef>
                <a:spcPts val="90"/>
              </a:spcBef>
            </a:pPr>
            <a:endParaRPr lang="en-US" sz="1500" dirty="0">
              <a:latin typeface="Calibri"/>
              <a:cs typeface="Calibri"/>
            </a:endParaRPr>
          </a:p>
          <a:p>
            <a:pPr marL="137160">
              <a:lnSpc>
                <a:spcPct val="100000"/>
              </a:lnSpc>
              <a:spcBef>
                <a:spcPts val="90"/>
              </a:spcBef>
            </a:pPr>
            <a:endParaRPr lang="en-US" sz="1500" dirty="0">
              <a:latin typeface="Calibri"/>
              <a:cs typeface="Calibri"/>
            </a:endParaRPr>
          </a:p>
        </p:txBody>
      </p:sp>
      <p:sp>
        <p:nvSpPr>
          <p:cNvPr id="15" name="object 15"/>
          <p:cNvSpPr txBox="1"/>
          <p:nvPr/>
        </p:nvSpPr>
        <p:spPr>
          <a:xfrm>
            <a:off x="182153" y="7562179"/>
            <a:ext cx="6884670" cy="1627369"/>
          </a:xfrm>
          <a:prstGeom prst="rect">
            <a:avLst/>
          </a:prstGeom>
        </p:spPr>
        <p:txBody>
          <a:bodyPr vert="horz" wrap="square" lIns="0" tIns="201930" rIns="0" bIns="0" rtlCol="0">
            <a:spAutoFit/>
          </a:bodyPr>
          <a:lstStyle/>
          <a:p>
            <a:pPr marL="12700">
              <a:lnSpc>
                <a:spcPct val="100000"/>
              </a:lnSpc>
              <a:spcBef>
                <a:spcPts val="1590"/>
              </a:spcBef>
              <a:tabLst>
                <a:tab pos="2762250" algn="l"/>
                <a:tab pos="6871334"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METHODS</a:t>
            </a:r>
            <a:r>
              <a:rPr sz="2500" b="1" u="sng" dirty="0">
                <a:solidFill>
                  <a:srgbClr val="008F00"/>
                </a:solidFill>
                <a:uFill>
                  <a:solidFill>
                    <a:srgbClr val="008F00"/>
                  </a:solidFill>
                </a:uFill>
                <a:latin typeface="Calibri"/>
                <a:cs typeface="Calibri"/>
              </a:rPr>
              <a:t>	</a:t>
            </a:r>
            <a:endParaRPr sz="2500" dirty="0">
              <a:latin typeface="Calibri"/>
              <a:cs typeface="Calibri"/>
            </a:endParaRPr>
          </a:p>
          <a:p>
            <a:pPr marL="74295">
              <a:lnSpc>
                <a:spcPct val="100000"/>
              </a:lnSpc>
              <a:spcBef>
                <a:spcPts val="875"/>
              </a:spcBef>
              <a:tabLst>
                <a:tab pos="1916430" algn="l"/>
              </a:tabLst>
            </a:pPr>
            <a:r>
              <a:rPr lang="en-US" sz="1500" dirty="0">
                <a:latin typeface="Calibri"/>
                <a:cs typeface="Calibri"/>
              </a:rPr>
              <a:t>The project monitors soil and atmospheric parameters influencing plant, specifically cabbage, carrots, and onion crop development, using an Internet of Things-based methodology. Sensor deployment, data gathering, network communication, and data analysis are all included in the process.</a:t>
            </a:r>
            <a:endParaRPr sz="1500" dirty="0">
              <a:latin typeface="Calibri"/>
              <a:cs typeface="Calibri"/>
            </a:endParaRPr>
          </a:p>
        </p:txBody>
      </p:sp>
      <p:sp>
        <p:nvSpPr>
          <p:cNvPr id="16" name="object 16"/>
          <p:cNvSpPr txBox="1"/>
          <p:nvPr/>
        </p:nvSpPr>
        <p:spPr>
          <a:xfrm>
            <a:off x="49789" y="9280978"/>
            <a:ext cx="6288836" cy="1911421"/>
          </a:xfrm>
          <a:prstGeom prst="rect">
            <a:avLst/>
          </a:prstGeom>
        </p:spPr>
        <p:txBody>
          <a:bodyPr vert="horz" wrap="square" lIns="0" tIns="13335" rIns="0" bIns="0" rtlCol="0">
            <a:spAutoFit/>
          </a:bodyPr>
          <a:lstStyle/>
          <a:p>
            <a:pPr marL="330835" marR="314325" indent="-318770" algn="just">
              <a:lnSpc>
                <a:spcPct val="100000"/>
              </a:lnSpc>
              <a:spcBef>
                <a:spcPts val="105"/>
              </a:spcBef>
            </a:pPr>
            <a:r>
              <a:rPr lang="en-US" sz="1500" dirty="0">
                <a:latin typeface="Calibri"/>
                <a:cs typeface="Calibri"/>
              </a:rPr>
              <a:t>	The farm is equipped with sensors that are used to continuously collect data on soil moisture, pH, temperature, and humidity.</a:t>
            </a:r>
          </a:p>
          <a:p>
            <a:pPr marL="330835" marR="314325" indent="-318770" algn="just">
              <a:lnSpc>
                <a:spcPct val="100000"/>
              </a:lnSpc>
              <a:spcBef>
                <a:spcPts val="105"/>
              </a:spcBef>
            </a:pPr>
            <a:endParaRPr lang="en-US" sz="1500" dirty="0">
              <a:latin typeface="Calibri"/>
              <a:cs typeface="Calibri"/>
            </a:endParaRPr>
          </a:p>
          <a:p>
            <a:pPr marL="330835" marR="314325" indent="-318770" algn="just">
              <a:lnSpc>
                <a:spcPct val="100000"/>
              </a:lnSpc>
              <a:spcBef>
                <a:spcPts val="105"/>
              </a:spcBef>
            </a:pPr>
            <a:r>
              <a:rPr lang="en-US" sz="1500" dirty="0">
                <a:latin typeface="Calibri"/>
                <a:cs typeface="Calibri"/>
              </a:rPr>
              <a:t>	To provide dependable data transfer to a MQTT broker, which connects to cloud services, sensors create a mesh network.</a:t>
            </a:r>
          </a:p>
          <a:p>
            <a:pPr marL="330835" marR="314325" indent="-318770" algn="just">
              <a:lnSpc>
                <a:spcPct val="100000"/>
              </a:lnSpc>
              <a:spcBef>
                <a:spcPts val="105"/>
              </a:spcBef>
            </a:pPr>
            <a:endParaRPr lang="en-US" sz="1500" dirty="0">
              <a:latin typeface="Calibri"/>
              <a:cs typeface="Calibri"/>
            </a:endParaRPr>
          </a:p>
          <a:p>
            <a:pPr marL="330835" marR="314325" indent="-318770" algn="just">
              <a:lnSpc>
                <a:spcPct val="100000"/>
              </a:lnSpc>
              <a:spcBef>
                <a:spcPts val="105"/>
              </a:spcBef>
            </a:pPr>
            <a:r>
              <a:rPr lang="en-US" sz="1500" dirty="0">
                <a:latin typeface="Calibri"/>
                <a:cs typeface="Calibri"/>
              </a:rPr>
              <a:t>	A smartphone app for real-time farm monitoring and alarms provides insights from data analysis done on Google Cloud Platform.</a:t>
            </a:r>
            <a:endParaRPr sz="1500" dirty="0">
              <a:latin typeface="Calibri"/>
              <a:cs typeface="Calibri"/>
            </a:endParaRPr>
          </a:p>
        </p:txBody>
      </p:sp>
      <p:sp>
        <p:nvSpPr>
          <p:cNvPr id="20" name="object 20"/>
          <p:cNvSpPr txBox="1"/>
          <p:nvPr/>
        </p:nvSpPr>
        <p:spPr>
          <a:xfrm>
            <a:off x="8494312" y="6279735"/>
            <a:ext cx="4945380" cy="185307"/>
          </a:xfrm>
          <a:prstGeom prst="rect">
            <a:avLst/>
          </a:prstGeom>
        </p:spPr>
        <p:txBody>
          <a:bodyPr vert="horz" wrap="square" lIns="0" tIns="15875" rIns="0" bIns="0" rtlCol="0">
            <a:spAutoFit/>
          </a:bodyPr>
          <a:lstStyle/>
          <a:p>
            <a:pPr marL="12700">
              <a:lnSpc>
                <a:spcPct val="100000"/>
              </a:lnSpc>
              <a:spcBef>
                <a:spcPts val="125"/>
              </a:spcBef>
            </a:pPr>
            <a:r>
              <a:rPr sz="1100" dirty="0">
                <a:latin typeface="Calibri"/>
                <a:cs typeface="Calibri"/>
              </a:rPr>
              <a:t>Fig.</a:t>
            </a:r>
            <a:r>
              <a:rPr sz="1100" spc="30" dirty="0">
                <a:latin typeface="Calibri"/>
                <a:cs typeface="Calibri"/>
              </a:rPr>
              <a:t> </a:t>
            </a:r>
            <a:r>
              <a:rPr sz="1100" dirty="0">
                <a:latin typeface="Calibri"/>
                <a:cs typeface="Calibri"/>
              </a:rPr>
              <a:t>2:</a:t>
            </a:r>
            <a:r>
              <a:rPr sz="1100" spc="30" dirty="0">
                <a:latin typeface="Calibri"/>
                <a:cs typeface="Calibri"/>
              </a:rPr>
              <a:t> </a:t>
            </a:r>
            <a:r>
              <a:rPr lang="en-US" sz="1100" dirty="0">
                <a:latin typeface="Calibri"/>
                <a:cs typeface="Calibri"/>
              </a:rPr>
              <a:t>The dependency of some crop diseases on atmospheric and soil conditions</a:t>
            </a:r>
            <a:endParaRPr sz="1100" dirty="0">
              <a:latin typeface="Calibri"/>
              <a:cs typeface="Calibri"/>
            </a:endParaRPr>
          </a:p>
        </p:txBody>
      </p:sp>
      <p:sp>
        <p:nvSpPr>
          <p:cNvPr id="21" name="object 21"/>
          <p:cNvSpPr txBox="1"/>
          <p:nvPr/>
        </p:nvSpPr>
        <p:spPr>
          <a:xfrm>
            <a:off x="2460402" y="14481781"/>
            <a:ext cx="2100580" cy="185307"/>
          </a:xfrm>
          <a:prstGeom prst="rect">
            <a:avLst/>
          </a:prstGeom>
        </p:spPr>
        <p:txBody>
          <a:bodyPr vert="horz" wrap="square" lIns="0" tIns="15875" rIns="0" bIns="0" rtlCol="0">
            <a:spAutoFit/>
          </a:bodyPr>
          <a:lstStyle/>
          <a:p>
            <a:pPr marL="12700">
              <a:lnSpc>
                <a:spcPct val="100000"/>
              </a:lnSpc>
              <a:spcBef>
                <a:spcPts val="125"/>
              </a:spcBef>
            </a:pPr>
            <a:r>
              <a:rPr sz="1100" dirty="0">
                <a:latin typeface="Calibri"/>
                <a:cs typeface="Calibri"/>
              </a:rPr>
              <a:t>Fig.</a:t>
            </a:r>
            <a:r>
              <a:rPr sz="1100" spc="45" dirty="0">
                <a:latin typeface="Calibri"/>
                <a:cs typeface="Calibri"/>
              </a:rPr>
              <a:t> </a:t>
            </a:r>
            <a:r>
              <a:rPr sz="1100" dirty="0">
                <a:latin typeface="Calibri"/>
                <a:cs typeface="Calibri"/>
              </a:rPr>
              <a:t>1:</a:t>
            </a:r>
            <a:r>
              <a:rPr sz="1100" spc="50" dirty="0">
                <a:latin typeface="Calibri"/>
                <a:cs typeface="Calibri"/>
              </a:rPr>
              <a:t> </a:t>
            </a:r>
            <a:r>
              <a:rPr sz="1100" dirty="0">
                <a:latin typeface="Calibri"/>
                <a:cs typeface="Calibri"/>
              </a:rPr>
              <a:t>Methodology</a:t>
            </a:r>
            <a:r>
              <a:rPr sz="1100" spc="55" dirty="0">
                <a:latin typeface="Calibri"/>
                <a:cs typeface="Calibri"/>
              </a:rPr>
              <a:t>  </a:t>
            </a:r>
            <a:r>
              <a:rPr sz="1100" spc="-10" dirty="0">
                <a:latin typeface="Calibri"/>
                <a:cs typeface="Calibri"/>
              </a:rPr>
              <a:t>Figure</a:t>
            </a:r>
            <a:endParaRPr sz="1100" dirty="0">
              <a:latin typeface="Calibri"/>
              <a:cs typeface="Calibri"/>
            </a:endParaRPr>
          </a:p>
        </p:txBody>
      </p:sp>
      <p:sp>
        <p:nvSpPr>
          <p:cNvPr id="22" name="object 22"/>
          <p:cNvSpPr txBox="1"/>
          <p:nvPr/>
        </p:nvSpPr>
        <p:spPr>
          <a:xfrm>
            <a:off x="170089" y="14934094"/>
            <a:ext cx="6896734" cy="4358950"/>
          </a:xfrm>
          <a:prstGeom prst="rect">
            <a:avLst/>
          </a:prstGeom>
        </p:spPr>
        <p:txBody>
          <a:bodyPr vert="horz" wrap="square" lIns="0" tIns="13335" rIns="0" bIns="0" rtlCol="0">
            <a:spAutoFit/>
          </a:bodyPr>
          <a:lstStyle/>
          <a:p>
            <a:pPr marL="12700" marR="261620">
              <a:lnSpc>
                <a:spcPct val="100000"/>
              </a:lnSpc>
              <a:spcBef>
                <a:spcPts val="105"/>
              </a:spcBef>
            </a:pPr>
            <a:r>
              <a:rPr sz="1500" dirty="0">
                <a:latin typeface="Calibri"/>
                <a:cs typeface="Calibri"/>
              </a:rPr>
              <a:t>Procedure:</a:t>
            </a:r>
            <a:r>
              <a:rPr sz="1500" spc="260" dirty="0">
                <a:latin typeface="Calibri"/>
                <a:cs typeface="Calibri"/>
              </a:rPr>
              <a:t> </a:t>
            </a:r>
            <a:r>
              <a:rPr lang="en-US" sz="1500" dirty="0">
                <a:latin typeface="Calibri"/>
                <a:cs typeface="Calibri"/>
              </a:rPr>
              <a:t>Throughout the farm, sensors were placed in strategic locations, calibrated to yield precise readings, and data on soil moisture, pH, humidity, and air temperature was collected every 15 minutes.</a:t>
            </a:r>
          </a:p>
          <a:p>
            <a:pPr marL="12700" marR="261620">
              <a:lnSpc>
                <a:spcPct val="100000"/>
              </a:lnSpc>
              <a:spcBef>
                <a:spcPts val="105"/>
              </a:spcBef>
            </a:pPr>
            <a:endParaRPr lang="en-US" sz="1500" dirty="0">
              <a:latin typeface="Calibri"/>
              <a:cs typeface="Calibri"/>
            </a:endParaRPr>
          </a:p>
          <a:p>
            <a:pPr marL="12700" marR="261620">
              <a:lnSpc>
                <a:spcPct val="100000"/>
              </a:lnSpc>
              <a:spcBef>
                <a:spcPts val="105"/>
              </a:spcBef>
            </a:pPr>
            <a:r>
              <a:rPr sz="1500" dirty="0">
                <a:latin typeface="Calibri"/>
                <a:cs typeface="Calibri"/>
              </a:rPr>
              <a:t>Data</a:t>
            </a:r>
            <a:r>
              <a:rPr sz="1500" spc="-20" dirty="0">
                <a:latin typeface="Calibri"/>
                <a:cs typeface="Calibri"/>
              </a:rPr>
              <a:t> </a:t>
            </a:r>
            <a:r>
              <a:rPr sz="1500" dirty="0">
                <a:latin typeface="Calibri"/>
                <a:cs typeface="Calibri"/>
              </a:rPr>
              <a:t>analysis:</a:t>
            </a:r>
            <a:r>
              <a:rPr sz="1500" spc="305" dirty="0">
                <a:latin typeface="Calibri"/>
                <a:cs typeface="Calibri"/>
              </a:rPr>
              <a:t> </a:t>
            </a:r>
            <a:r>
              <a:rPr lang="en-US" sz="1500" spc="-10" dirty="0">
                <a:latin typeface="Calibri"/>
                <a:cs typeface="Calibri"/>
              </a:rPr>
              <a:t>The findings of the analysis of the collected data were displayed through graphs and charts in a mobile app for real-time insights and warnings. The analysis was conducted on Google Cloud Platform utilizing statistical techniques and machine learning models.</a:t>
            </a:r>
            <a:endParaRPr sz="1500" dirty="0">
              <a:latin typeface="Calibri"/>
              <a:cs typeface="Calibri"/>
            </a:endParaRPr>
          </a:p>
          <a:p>
            <a:pPr marL="24765">
              <a:lnSpc>
                <a:spcPct val="100000"/>
              </a:lnSpc>
              <a:spcBef>
                <a:spcPts val="395"/>
              </a:spcBef>
              <a:tabLst>
                <a:tab pos="2844165" algn="l"/>
                <a:tab pos="6883400"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RESULTS</a:t>
            </a:r>
            <a:r>
              <a:rPr sz="2500" b="1" u="sng" dirty="0">
                <a:solidFill>
                  <a:srgbClr val="008F00"/>
                </a:solidFill>
                <a:uFill>
                  <a:solidFill>
                    <a:srgbClr val="008F00"/>
                  </a:solidFill>
                </a:uFill>
                <a:latin typeface="Calibri"/>
                <a:cs typeface="Calibri"/>
              </a:rPr>
              <a:t>	</a:t>
            </a:r>
            <a:endParaRPr sz="2500" dirty="0">
              <a:latin typeface="Calibri"/>
              <a:cs typeface="Calibri"/>
            </a:endParaRPr>
          </a:p>
          <a:p>
            <a:pPr marL="74930" marR="375285" indent="5715">
              <a:lnSpc>
                <a:spcPct val="101499"/>
              </a:lnSpc>
              <a:spcBef>
                <a:spcPts val="715"/>
              </a:spcBef>
            </a:pPr>
            <a:r>
              <a:rPr lang="en-US" sz="1500" dirty="0">
                <a:latin typeface="Calibri"/>
                <a:cs typeface="Calibri"/>
              </a:rPr>
              <a:t>The study discovered that some environmental conditions had an impact on certain crop diseases. Disease incidence was directly correlated with changes in temperature, soil pH, humidity, and moisture content for carrots, onions, and cabbages. The hypothesis under investigation was validated, indicating that keeping an eye on these metrics can yield important information about managing diseases and enhancing crop health.</a:t>
            </a:r>
          </a:p>
          <a:p>
            <a:pPr marL="74930" marR="375285" indent="5715">
              <a:lnSpc>
                <a:spcPct val="101499"/>
              </a:lnSpc>
              <a:spcBef>
                <a:spcPts val="715"/>
              </a:spcBef>
            </a:pPr>
            <a:r>
              <a:rPr lang="en-US" sz="1500" dirty="0">
                <a:latin typeface="Calibri"/>
                <a:cs typeface="Calibri"/>
              </a:rPr>
              <a:t>The figure below shows how some crop infections depend on the measured atmospheric and soil variables</a:t>
            </a:r>
          </a:p>
        </p:txBody>
      </p:sp>
      <p:sp>
        <p:nvSpPr>
          <p:cNvPr id="24" name="object 24"/>
          <p:cNvSpPr txBox="1"/>
          <p:nvPr/>
        </p:nvSpPr>
        <p:spPr>
          <a:xfrm>
            <a:off x="7272529" y="6518389"/>
            <a:ext cx="6884670" cy="4240263"/>
          </a:xfrm>
          <a:prstGeom prst="rect">
            <a:avLst/>
          </a:prstGeom>
        </p:spPr>
        <p:txBody>
          <a:bodyPr vert="horz" wrap="square" lIns="0" tIns="160655" rIns="0" bIns="0" rtlCol="0">
            <a:spAutoFit/>
          </a:bodyPr>
          <a:lstStyle/>
          <a:p>
            <a:pPr marL="12700">
              <a:lnSpc>
                <a:spcPct val="100000"/>
              </a:lnSpc>
              <a:spcBef>
                <a:spcPts val="1265"/>
              </a:spcBef>
              <a:tabLst>
                <a:tab pos="2839720" algn="l"/>
                <a:tab pos="6871334"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DISCUSSION</a:t>
            </a:r>
            <a:r>
              <a:rPr sz="2500" b="1" u="sng" dirty="0">
                <a:solidFill>
                  <a:srgbClr val="008F00"/>
                </a:solidFill>
                <a:uFill>
                  <a:solidFill>
                    <a:srgbClr val="008F00"/>
                  </a:solidFill>
                </a:uFill>
                <a:latin typeface="Calibri"/>
                <a:cs typeface="Calibri"/>
              </a:rPr>
              <a:t>	</a:t>
            </a:r>
            <a:endParaRPr sz="2500" dirty="0">
              <a:latin typeface="Calibri"/>
              <a:cs typeface="Calibri"/>
            </a:endParaRPr>
          </a:p>
          <a:p>
            <a:pPr marL="253365" marR="766445" indent="108585">
              <a:lnSpc>
                <a:spcPct val="100000"/>
              </a:lnSpc>
              <a:spcBef>
                <a:spcPts val="680"/>
              </a:spcBef>
              <a:buFont typeface="Arial"/>
              <a:buChar char="•"/>
              <a:tabLst>
                <a:tab pos="361950" algn="l"/>
              </a:tabLst>
            </a:pPr>
            <a:r>
              <a:rPr lang="en-US" sz="1500" dirty="0">
                <a:latin typeface="Calibri"/>
                <a:cs typeface="Calibri"/>
              </a:rPr>
              <a:t>The goal of the project was to monitor important environmental factors for onions, cabbages, and carrots using an Internet of Things-based system in order to increase agricultural productivity and sustainability.</a:t>
            </a:r>
          </a:p>
          <a:p>
            <a:pPr marL="253365" marR="766445" indent="108585">
              <a:lnSpc>
                <a:spcPct val="100000"/>
              </a:lnSpc>
              <a:spcBef>
                <a:spcPts val="680"/>
              </a:spcBef>
              <a:buFont typeface="Arial"/>
              <a:buChar char="•"/>
              <a:tabLst>
                <a:tab pos="361950" algn="l"/>
              </a:tabLst>
            </a:pPr>
            <a:r>
              <a:rPr lang="en-US" sz="1500" dirty="0">
                <a:latin typeface="Calibri"/>
                <a:cs typeface="Calibri"/>
              </a:rPr>
              <a:t>Results verified that temperature, soil pH, humidity, and soil moisture all affect crop diseases.</a:t>
            </a:r>
          </a:p>
          <a:p>
            <a:pPr marL="253365" marR="766445" indent="108585">
              <a:lnSpc>
                <a:spcPct val="100000"/>
              </a:lnSpc>
              <a:spcBef>
                <a:spcPts val="680"/>
              </a:spcBef>
              <a:buFont typeface="Arial"/>
              <a:buChar char="•"/>
              <a:tabLst>
                <a:tab pos="361950" algn="l"/>
              </a:tabLst>
            </a:pPr>
            <a:r>
              <a:rPr lang="en-US" sz="1500" dirty="0">
                <a:latin typeface="Calibri"/>
                <a:cs typeface="Calibri"/>
              </a:rPr>
              <a:t> These findings support earlier study while also offering the benefit of real-time data for prompt decision-making.</a:t>
            </a:r>
          </a:p>
          <a:p>
            <a:pPr marL="253365" marR="766445" indent="108585">
              <a:lnSpc>
                <a:spcPct val="100000"/>
              </a:lnSpc>
              <a:spcBef>
                <a:spcPts val="680"/>
              </a:spcBef>
              <a:buFont typeface="Arial"/>
              <a:buChar char="•"/>
              <a:tabLst>
                <a:tab pos="361950" algn="l"/>
              </a:tabLst>
            </a:pPr>
            <a:r>
              <a:rPr lang="en-US" sz="1500" dirty="0">
                <a:latin typeface="Calibri"/>
                <a:cs typeface="Calibri"/>
              </a:rPr>
              <a:t> Potential problems in sensor calibration and the narrow emphasis on just three crop kinds are limitations.</a:t>
            </a:r>
          </a:p>
          <a:p>
            <a:pPr marL="253365" marR="766445" indent="108585">
              <a:lnSpc>
                <a:spcPct val="100000"/>
              </a:lnSpc>
              <a:spcBef>
                <a:spcPts val="680"/>
              </a:spcBef>
              <a:buFont typeface="Arial"/>
              <a:buChar char="•"/>
              <a:tabLst>
                <a:tab pos="361950" algn="l"/>
              </a:tabLst>
            </a:pPr>
            <a:r>
              <a:rPr lang="en-US" sz="1500" dirty="0">
                <a:latin typeface="Calibri"/>
                <a:cs typeface="Calibri"/>
              </a:rPr>
              <a:t> The findings validate the vital role that environmental monitoring plays in crop health management and yield optimization.</a:t>
            </a:r>
          </a:p>
          <a:p>
            <a:pPr marL="253365" marR="766445" indent="108585">
              <a:lnSpc>
                <a:spcPct val="100000"/>
              </a:lnSpc>
              <a:spcBef>
                <a:spcPts val="680"/>
              </a:spcBef>
              <a:buFont typeface="Arial"/>
              <a:buChar char="•"/>
              <a:tabLst>
                <a:tab pos="361950" algn="l"/>
              </a:tabLst>
            </a:pPr>
            <a:r>
              <a:rPr lang="en-US" sz="1500" dirty="0">
                <a:latin typeface="Calibri"/>
                <a:cs typeface="Calibri"/>
              </a:rPr>
              <a:t> To confirm the system's efficacy even more, future studies could examine a wider range of crops and environmental conditions.</a:t>
            </a:r>
          </a:p>
        </p:txBody>
      </p:sp>
      <p:sp>
        <p:nvSpPr>
          <p:cNvPr id="25" name="object 25"/>
          <p:cNvSpPr txBox="1"/>
          <p:nvPr/>
        </p:nvSpPr>
        <p:spPr>
          <a:xfrm>
            <a:off x="7302023" y="10717844"/>
            <a:ext cx="6859270" cy="239809"/>
          </a:xfrm>
          <a:prstGeom prst="rect">
            <a:avLst/>
          </a:prstGeom>
          <a:solidFill>
            <a:srgbClr val="92D050"/>
          </a:solidFill>
        </p:spPr>
        <p:txBody>
          <a:bodyPr vert="horz" wrap="square" lIns="0" tIns="8890" rIns="0" bIns="0" rtlCol="0">
            <a:spAutoFit/>
          </a:bodyPr>
          <a:lstStyle/>
          <a:p>
            <a:pPr marL="137160" marR="259715" indent="-4445">
              <a:lnSpc>
                <a:spcPct val="100499"/>
              </a:lnSpc>
              <a:spcBef>
                <a:spcPts val="70"/>
              </a:spcBef>
              <a:tabLst>
                <a:tab pos="1767205" algn="l"/>
              </a:tabLst>
            </a:pPr>
            <a:endParaRPr lang="en-US" sz="1500" dirty="0">
              <a:latin typeface="Calibri"/>
              <a:cs typeface="Calibri"/>
            </a:endParaRPr>
          </a:p>
        </p:txBody>
      </p:sp>
      <p:sp>
        <p:nvSpPr>
          <p:cNvPr id="29" name="object 29"/>
          <p:cNvSpPr txBox="1"/>
          <p:nvPr/>
        </p:nvSpPr>
        <p:spPr>
          <a:xfrm>
            <a:off x="7299066" y="14728920"/>
            <a:ext cx="6891020" cy="3806825"/>
          </a:xfrm>
          <a:prstGeom prst="rect">
            <a:avLst/>
          </a:prstGeom>
        </p:spPr>
        <p:txBody>
          <a:bodyPr vert="horz" wrap="square" lIns="0" tIns="158115" rIns="0" bIns="0" rtlCol="0">
            <a:spAutoFit/>
          </a:bodyPr>
          <a:lstStyle/>
          <a:p>
            <a:pPr marL="12700">
              <a:lnSpc>
                <a:spcPct val="100000"/>
              </a:lnSpc>
              <a:spcBef>
                <a:spcPts val="1245"/>
              </a:spcBef>
              <a:tabLst>
                <a:tab pos="2774315" algn="l"/>
                <a:tab pos="6871334"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CONCLUSION</a:t>
            </a:r>
            <a:r>
              <a:rPr sz="2500" b="1" u="sng" dirty="0">
                <a:solidFill>
                  <a:srgbClr val="008F00"/>
                </a:solidFill>
                <a:uFill>
                  <a:solidFill>
                    <a:srgbClr val="008F00"/>
                  </a:solidFill>
                </a:uFill>
                <a:latin typeface="Calibri"/>
                <a:cs typeface="Calibri"/>
              </a:rPr>
              <a:t>	</a:t>
            </a:r>
            <a:endParaRPr sz="2500" dirty="0">
              <a:latin typeface="Calibri"/>
              <a:cs typeface="Calibri"/>
            </a:endParaRPr>
          </a:p>
          <a:p>
            <a:pPr marL="34925" marR="135890">
              <a:lnSpc>
                <a:spcPct val="100000"/>
              </a:lnSpc>
              <a:spcBef>
                <a:spcPts val="670"/>
              </a:spcBef>
            </a:pPr>
            <a:r>
              <a:rPr sz="1500" dirty="0">
                <a:latin typeface="Calibri"/>
                <a:cs typeface="Calibri"/>
              </a:rPr>
              <a:t>Summary</a:t>
            </a:r>
            <a:r>
              <a:rPr sz="1500" spc="-10" dirty="0">
                <a:latin typeface="Calibri"/>
                <a:cs typeface="Calibri"/>
              </a:rPr>
              <a:t> </a:t>
            </a:r>
            <a:r>
              <a:rPr sz="1500" dirty="0">
                <a:latin typeface="Calibri"/>
                <a:cs typeface="Calibri"/>
              </a:rPr>
              <a:t>of</a:t>
            </a:r>
            <a:r>
              <a:rPr sz="1500" spc="-20" dirty="0">
                <a:latin typeface="Calibri"/>
                <a:cs typeface="Calibri"/>
              </a:rPr>
              <a:t> </a:t>
            </a:r>
            <a:r>
              <a:rPr sz="1500" dirty="0">
                <a:latin typeface="Calibri"/>
                <a:cs typeface="Calibri"/>
              </a:rPr>
              <a:t>your</a:t>
            </a:r>
            <a:r>
              <a:rPr sz="1500" spc="-20" dirty="0">
                <a:latin typeface="Calibri"/>
                <a:cs typeface="Calibri"/>
              </a:rPr>
              <a:t> </a:t>
            </a:r>
            <a:r>
              <a:rPr sz="1500" dirty="0">
                <a:latin typeface="Calibri"/>
                <a:cs typeface="Calibri"/>
              </a:rPr>
              <a:t>key</a:t>
            </a:r>
            <a:r>
              <a:rPr sz="1500" spc="-20" dirty="0">
                <a:latin typeface="Calibri"/>
                <a:cs typeface="Calibri"/>
              </a:rPr>
              <a:t> </a:t>
            </a:r>
            <a:r>
              <a:rPr sz="1500" dirty="0">
                <a:latin typeface="Calibri"/>
                <a:cs typeface="Calibri"/>
              </a:rPr>
              <a:t>conclusions.</a:t>
            </a:r>
            <a:r>
              <a:rPr sz="1500" spc="300" dirty="0">
                <a:latin typeface="Calibri"/>
                <a:cs typeface="Calibri"/>
              </a:rPr>
              <a:t> </a:t>
            </a:r>
            <a:r>
              <a:rPr sz="1500" spc="-10" dirty="0">
                <a:latin typeface="Calibri"/>
                <a:cs typeface="Calibri"/>
              </a:rPr>
              <a:t>Recapitulate</a:t>
            </a:r>
            <a:r>
              <a:rPr sz="1500" spc="-15" dirty="0">
                <a:latin typeface="Calibri"/>
                <a:cs typeface="Calibri"/>
              </a:rPr>
              <a:t> </a:t>
            </a:r>
            <a:r>
              <a:rPr sz="1500" dirty="0">
                <a:latin typeface="Calibri"/>
                <a:cs typeface="Calibri"/>
              </a:rPr>
              <a:t>the</a:t>
            </a:r>
            <a:r>
              <a:rPr sz="1500" spc="-20" dirty="0">
                <a:latin typeface="Calibri"/>
                <a:cs typeface="Calibri"/>
              </a:rPr>
              <a:t> </a:t>
            </a:r>
            <a:r>
              <a:rPr sz="1500" dirty="0">
                <a:latin typeface="Calibri"/>
                <a:cs typeface="Calibri"/>
              </a:rPr>
              <a:t>main</a:t>
            </a:r>
            <a:r>
              <a:rPr sz="1500" spc="-20" dirty="0">
                <a:latin typeface="Calibri"/>
                <a:cs typeface="Calibri"/>
              </a:rPr>
              <a:t> </a:t>
            </a:r>
            <a:r>
              <a:rPr sz="1500" dirty="0">
                <a:latin typeface="Calibri"/>
                <a:cs typeface="Calibri"/>
              </a:rPr>
              <a:t>findings</a:t>
            </a:r>
            <a:r>
              <a:rPr sz="1500" spc="-5" dirty="0">
                <a:latin typeface="Calibri"/>
                <a:cs typeface="Calibri"/>
              </a:rPr>
              <a:t> </a:t>
            </a:r>
            <a:r>
              <a:rPr sz="1500" dirty="0">
                <a:latin typeface="Calibri"/>
                <a:cs typeface="Calibri"/>
              </a:rPr>
              <a:t>and</a:t>
            </a:r>
            <a:r>
              <a:rPr sz="1500" spc="-20" dirty="0">
                <a:latin typeface="Calibri"/>
                <a:cs typeface="Calibri"/>
              </a:rPr>
              <a:t> </a:t>
            </a:r>
            <a:r>
              <a:rPr sz="1500" dirty="0">
                <a:latin typeface="Calibri"/>
                <a:cs typeface="Calibri"/>
              </a:rPr>
              <a:t>the</a:t>
            </a:r>
            <a:r>
              <a:rPr sz="1500" spc="-20" dirty="0">
                <a:latin typeface="Calibri"/>
                <a:cs typeface="Calibri"/>
              </a:rPr>
              <a:t> </a:t>
            </a:r>
            <a:r>
              <a:rPr sz="1500" spc="-10" dirty="0">
                <a:latin typeface="Calibri"/>
                <a:cs typeface="Calibri"/>
              </a:rPr>
              <a:t>implications </a:t>
            </a:r>
            <a:r>
              <a:rPr sz="1500" dirty="0">
                <a:latin typeface="Calibri"/>
                <a:cs typeface="Calibri"/>
              </a:rPr>
              <a:t>of</a:t>
            </a:r>
            <a:r>
              <a:rPr sz="1500" spc="-20" dirty="0">
                <a:latin typeface="Calibri"/>
                <a:cs typeface="Calibri"/>
              </a:rPr>
              <a:t> </a:t>
            </a:r>
            <a:r>
              <a:rPr sz="1500" dirty="0">
                <a:latin typeface="Calibri"/>
                <a:cs typeface="Calibri"/>
              </a:rPr>
              <a:t>the</a:t>
            </a:r>
            <a:r>
              <a:rPr sz="1500" spc="-15" dirty="0">
                <a:latin typeface="Calibri"/>
                <a:cs typeface="Calibri"/>
              </a:rPr>
              <a:t> </a:t>
            </a:r>
            <a:r>
              <a:rPr sz="1500" dirty="0">
                <a:latin typeface="Calibri"/>
                <a:cs typeface="Calibri"/>
              </a:rPr>
              <a:t>research</a:t>
            </a:r>
            <a:r>
              <a:rPr sz="1500" spc="-25" dirty="0">
                <a:latin typeface="Calibri"/>
                <a:cs typeface="Calibri"/>
              </a:rPr>
              <a:t> </a:t>
            </a:r>
            <a:r>
              <a:rPr sz="1500" dirty="0">
                <a:latin typeface="Calibri"/>
                <a:cs typeface="Calibri"/>
              </a:rPr>
              <a:t>for</a:t>
            </a:r>
            <a:r>
              <a:rPr sz="1500" spc="-15" dirty="0">
                <a:latin typeface="Calibri"/>
                <a:cs typeface="Calibri"/>
              </a:rPr>
              <a:t> </a:t>
            </a:r>
            <a:r>
              <a:rPr sz="1500" dirty="0">
                <a:latin typeface="Calibri"/>
                <a:cs typeface="Calibri"/>
              </a:rPr>
              <a:t>theory</a:t>
            </a:r>
            <a:r>
              <a:rPr sz="1500" spc="-20" dirty="0">
                <a:latin typeface="Calibri"/>
                <a:cs typeface="Calibri"/>
              </a:rPr>
              <a:t> </a:t>
            </a:r>
            <a:r>
              <a:rPr sz="1500" dirty="0">
                <a:latin typeface="Calibri"/>
                <a:cs typeface="Calibri"/>
              </a:rPr>
              <a:t>and</a:t>
            </a:r>
            <a:r>
              <a:rPr sz="1500" spc="-10" dirty="0">
                <a:latin typeface="Calibri"/>
                <a:cs typeface="Calibri"/>
              </a:rPr>
              <a:t> </a:t>
            </a:r>
            <a:r>
              <a:rPr sz="1500" dirty="0">
                <a:latin typeface="Calibri"/>
                <a:cs typeface="Calibri"/>
              </a:rPr>
              <a:t>practice.</a:t>
            </a:r>
            <a:r>
              <a:rPr sz="1500" spc="305" dirty="0">
                <a:latin typeface="Calibri"/>
                <a:cs typeface="Calibri"/>
              </a:rPr>
              <a:t> </a:t>
            </a:r>
            <a:r>
              <a:rPr sz="1500" dirty="0">
                <a:latin typeface="Calibri"/>
                <a:cs typeface="Calibri"/>
              </a:rPr>
              <a:t>It</a:t>
            </a:r>
            <a:r>
              <a:rPr sz="1500" spc="-15" dirty="0">
                <a:latin typeface="Calibri"/>
                <a:cs typeface="Calibri"/>
              </a:rPr>
              <a:t> </a:t>
            </a:r>
            <a:r>
              <a:rPr sz="1500" dirty="0">
                <a:latin typeface="Calibri"/>
                <a:cs typeface="Calibri"/>
              </a:rPr>
              <a:t>could</a:t>
            </a:r>
            <a:r>
              <a:rPr sz="1500" spc="-20" dirty="0">
                <a:latin typeface="Calibri"/>
                <a:cs typeface="Calibri"/>
              </a:rPr>
              <a:t> </a:t>
            </a:r>
            <a:r>
              <a:rPr sz="1500" dirty="0">
                <a:latin typeface="Calibri"/>
                <a:cs typeface="Calibri"/>
              </a:rPr>
              <a:t>go</a:t>
            </a:r>
            <a:r>
              <a:rPr sz="1500" spc="-15" dirty="0">
                <a:latin typeface="Calibri"/>
                <a:cs typeface="Calibri"/>
              </a:rPr>
              <a:t> </a:t>
            </a:r>
            <a:r>
              <a:rPr sz="1500" dirty="0">
                <a:latin typeface="Calibri"/>
                <a:cs typeface="Calibri"/>
              </a:rPr>
              <a:t>along</a:t>
            </a:r>
            <a:r>
              <a:rPr sz="1500" spc="-15" dirty="0">
                <a:latin typeface="Calibri"/>
                <a:cs typeface="Calibri"/>
              </a:rPr>
              <a:t> </a:t>
            </a:r>
            <a:r>
              <a:rPr sz="1500" dirty="0">
                <a:latin typeface="Calibri"/>
                <a:cs typeface="Calibri"/>
              </a:rPr>
              <a:t>those</a:t>
            </a:r>
            <a:r>
              <a:rPr sz="1500" spc="-15" dirty="0">
                <a:latin typeface="Calibri"/>
                <a:cs typeface="Calibri"/>
              </a:rPr>
              <a:t> </a:t>
            </a:r>
            <a:r>
              <a:rPr sz="1500" dirty="0">
                <a:latin typeface="Calibri"/>
                <a:cs typeface="Calibri"/>
              </a:rPr>
              <a:t>lines:</a:t>
            </a:r>
            <a:r>
              <a:rPr sz="1500" spc="305" dirty="0">
                <a:latin typeface="Calibri"/>
                <a:cs typeface="Calibri"/>
              </a:rPr>
              <a:t> </a:t>
            </a:r>
            <a:r>
              <a:rPr sz="1500" dirty="0">
                <a:latin typeface="Calibri"/>
                <a:cs typeface="Calibri"/>
              </a:rPr>
              <a:t>In</a:t>
            </a:r>
            <a:r>
              <a:rPr sz="1500" spc="-15" dirty="0">
                <a:latin typeface="Calibri"/>
                <a:cs typeface="Calibri"/>
              </a:rPr>
              <a:t> </a:t>
            </a:r>
            <a:r>
              <a:rPr sz="1500" spc="-10" dirty="0">
                <a:latin typeface="Calibri"/>
                <a:cs typeface="Calibri"/>
              </a:rPr>
              <a:t>conclusion, </a:t>
            </a:r>
            <a:r>
              <a:rPr sz="1500" dirty="0">
                <a:latin typeface="Calibri"/>
                <a:cs typeface="Calibri"/>
              </a:rPr>
              <a:t>this</a:t>
            </a:r>
            <a:r>
              <a:rPr sz="1500" spc="-15" dirty="0">
                <a:latin typeface="Calibri"/>
                <a:cs typeface="Calibri"/>
              </a:rPr>
              <a:t> </a:t>
            </a:r>
            <a:r>
              <a:rPr sz="1500" dirty="0">
                <a:latin typeface="Calibri"/>
                <a:cs typeface="Calibri"/>
              </a:rPr>
              <a:t>study</a:t>
            </a:r>
            <a:r>
              <a:rPr sz="1500" spc="-10" dirty="0">
                <a:latin typeface="Calibri"/>
                <a:cs typeface="Calibri"/>
              </a:rPr>
              <a:t> </a:t>
            </a:r>
            <a:r>
              <a:rPr sz="1500" dirty="0">
                <a:latin typeface="Calibri"/>
                <a:cs typeface="Calibri"/>
              </a:rPr>
              <a:t>highlights</a:t>
            </a:r>
            <a:r>
              <a:rPr sz="1500" spc="-5"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importance</a:t>
            </a:r>
            <a:r>
              <a:rPr sz="1500" spc="-15" dirty="0">
                <a:latin typeface="Calibri"/>
                <a:cs typeface="Calibri"/>
              </a:rPr>
              <a:t> </a:t>
            </a:r>
            <a:r>
              <a:rPr sz="1500" dirty="0">
                <a:latin typeface="Calibri"/>
                <a:cs typeface="Calibri"/>
              </a:rPr>
              <a:t>of</a:t>
            </a:r>
            <a:r>
              <a:rPr sz="1500" spc="-20" dirty="0">
                <a:latin typeface="Calibri"/>
                <a:cs typeface="Calibri"/>
              </a:rPr>
              <a:t> </a:t>
            </a:r>
            <a:r>
              <a:rPr sz="1500" dirty="0">
                <a:latin typeface="Calibri"/>
                <a:cs typeface="Calibri"/>
              </a:rPr>
              <a:t>X</a:t>
            </a:r>
            <a:r>
              <a:rPr sz="1500" spc="-15" dirty="0">
                <a:latin typeface="Calibri"/>
                <a:cs typeface="Calibri"/>
              </a:rPr>
              <a:t> </a:t>
            </a:r>
            <a:r>
              <a:rPr sz="1500" dirty="0">
                <a:latin typeface="Calibri"/>
                <a:cs typeface="Calibri"/>
              </a:rPr>
              <a:t>in</a:t>
            </a:r>
            <a:r>
              <a:rPr sz="1500" spc="-20" dirty="0">
                <a:latin typeface="Calibri"/>
                <a:cs typeface="Calibri"/>
              </a:rPr>
              <a:t> </a:t>
            </a:r>
            <a:r>
              <a:rPr sz="1500" dirty="0">
                <a:latin typeface="Calibri"/>
                <a:cs typeface="Calibri"/>
              </a:rPr>
              <a:t>understanding</a:t>
            </a:r>
            <a:r>
              <a:rPr sz="1500" spc="5" dirty="0">
                <a:latin typeface="Calibri"/>
                <a:cs typeface="Calibri"/>
              </a:rPr>
              <a:t> </a:t>
            </a:r>
            <a:r>
              <a:rPr sz="1500" dirty="0">
                <a:latin typeface="Calibri"/>
                <a:cs typeface="Calibri"/>
              </a:rPr>
              <a:t>Y</a:t>
            </a:r>
            <a:r>
              <a:rPr sz="1500" spc="-20" dirty="0">
                <a:latin typeface="Calibri"/>
                <a:cs typeface="Calibri"/>
              </a:rPr>
              <a:t> </a:t>
            </a:r>
            <a:r>
              <a:rPr sz="1500" dirty="0">
                <a:latin typeface="Calibri"/>
                <a:cs typeface="Calibri"/>
              </a:rPr>
              <a:t>and</a:t>
            </a:r>
            <a:r>
              <a:rPr sz="1500" spc="-10" dirty="0">
                <a:latin typeface="Calibri"/>
                <a:cs typeface="Calibri"/>
              </a:rPr>
              <a:t> </a:t>
            </a:r>
            <a:r>
              <a:rPr sz="1500" dirty="0">
                <a:latin typeface="Calibri"/>
                <a:cs typeface="Calibri"/>
              </a:rPr>
              <a:t>provides</a:t>
            </a:r>
            <a:r>
              <a:rPr sz="1500" spc="-25" dirty="0">
                <a:latin typeface="Calibri"/>
                <a:cs typeface="Calibri"/>
              </a:rPr>
              <a:t> </a:t>
            </a:r>
            <a:r>
              <a:rPr sz="1500" dirty="0">
                <a:latin typeface="Calibri"/>
                <a:cs typeface="Calibri"/>
              </a:rPr>
              <a:t>a</a:t>
            </a:r>
            <a:r>
              <a:rPr sz="1500" spc="-20" dirty="0">
                <a:latin typeface="Calibri"/>
                <a:cs typeface="Calibri"/>
              </a:rPr>
              <a:t> </a:t>
            </a:r>
            <a:r>
              <a:rPr sz="1500" spc="-10" dirty="0">
                <a:latin typeface="Calibri"/>
                <a:cs typeface="Calibri"/>
              </a:rPr>
              <a:t>foundation </a:t>
            </a:r>
            <a:r>
              <a:rPr sz="1500" dirty="0">
                <a:latin typeface="Calibri"/>
                <a:cs typeface="Calibri"/>
              </a:rPr>
              <a:t>for</a:t>
            </a:r>
            <a:r>
              <a:rPr sz="1500" spc="-30" dirty="0">
                <a:latin typeface="Calibri"/>
                <a:cs typeface="Calibri"/>
              </a:rPr>
              <a:t> </a:t>
            </a:r>
            <a:r>
              <a:rPr sz="1500" dirty="0">
                <a:latin typeface="Calibri"/>
                <a:cs typeface="Calibri"/>
              </a:rPr>
              <a:t>future</a:t>
            </a:r>
            <a:r>
              <a:rPr sz="1500" spc="-30" dirty="0">
                <a:latin typeface="Calibri"/>
                <a:cs typeface="Calibri"/>
              </a:rPr>
              <a:t> </a:t>
            </a:r>
            <a:r>
              <a:rPr sz="1500" dirty="0">
                <a:latin typeface="Calibri"/>
                <a:cs typeface="Calibri"/>
              </a:rPr>
              <a:t>research</a:t>
            </a:r>
            <a:r>
              <a:rPr sz="1500" spc="-35" dirty="0">
                <a:latin typeface="Calibri"/>
                <a:cs typeface="Calibri"/>
              </a:rPr>
              <a:t> </a:t>
            </a:r>
            <a:r>
              <a:rPr sz="1500" dirty="0">
                <a:latin typeface="Calibri"/>
                <a:cs typeface="Calibri"/>
              </a:rPr>
              <a:t>in</a:t>
            </a:r>
            <a:r>
              <a:rPr sz="1500" spc="-25" dirty="0">
                <a:latin typeface="Calibri"/>
                <a:cs typeface="Calibri"/>
              </a:rPr>
              <a:t> </a:t>
            </a:r>
            <a:r>
              <a:rPr sz="1500" dirty="0">
                <a:latin typeface="Calibri"/>
                <a:cs typeface="Calibri"/>
              </a:rPr>
              <a:t>this</a:t>
            </a:r>
            <a:r>
              <a:rPr sz="1500" spc="-20" dirty="0">
                <a:latin typeface="Calibri"/>
                <a:cs typeface="Calibri"/>
              </a:rPr>
              <a:t> </a:t>
            </a:r>
            <a:r>
              <a:rPr sz="1500" dirty="0">
                <a:latin typeface="Calibri"/>
                <a:cs typeface="Calibri"/>
              </a:rPr>
              <a:t>area.</a:t>
            </a:r>
            <a:r>
              <a:rPr sz="1500" spc="-35"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findings</a:t>
            </a:r>
            <a:r>
              <a:rPr sz="1500" spc="-15" dirty="0">
                <a:latin typeface="Calibri"/>
                <a:cs typeface="Calibri"/>
              </a:rPr>
              <a:t> </a:t>
            </a:r>
            <a:r>
              <a:rPr sz="1500" dirty="0">
                <a:latin typeface="Calibri"/>
                <a:cs typeface="Calibri"/>
              </a:rPr>
              <a:t>suggest</a:t>
            </a:r>
            <a:r>
              <a:rPr sz="1500" spc="-25" dirty="0">
                <a:latin typeface="Calibri"/>
                <a:cs typeface="Calibri"/>
              </a:rPr>
              <a:t> </a:t>
            </a:r>
            <a:r>
              <a:rPr sz="1500" dirty="0">
                <a:latin typeface="Calibri"/>
                <a:cs typeface="Calibri"/>
              </a:rPr>
              <a:t>that</a:t>
            </a:r>
            <a:r>
              <a:rPr sz="1500" spc="-25" dirty="0">
                <a:latin typeface="Calibri"/>
                <a:cs typeface="Calibri"/>
              </a:rPr>
              <a:t> </a:t>
            </a:r>
            <a:r>
              <a:rPr sz="1500" dirty="0">
                <a:latin typeface="Calibri"/>
                <a:cs typeface="Calibri"/>
              </a:rPr>
              <a:t>X</a:t>
            </a:r>
            <a:r>
              <a:rPr sz="1500" spc="-25" dirty="0">
                <a:latin typeface="Calibri"/>
                <a:cs typeface="Calibri"/>
              </a:rPr>
              <a:t> </a:t>
            </a:r>
            <a:r>
              <a:rPr sz="1500" dirty="0">
                <a:latin typeface="Calibri"/>
                <a:cs typeface="Calibri"/>
              </a:rPr>
              <a:t>has</a:t>
            </a:r>
            <a:r>
              <a:rPr sz="1500" spc="-30" dirty="0">
                <a:latin typeface="Calibri"/>
                <a:cs typeface="Calibri"/>
              </a:rPr>
              <a:t> </a:t>
            </a:r>
            <a:r>
              <a:rPr sz="1500" dirty="0">
                <a:latin typeface="Calibri"/>
                <a:cs typeface="Calibri"/>
              </a:rPr>
              <a:t>a</a:t>
            </a:r>
            <a:r>
              <a:rPr sz="1500" spc="-20" dirty="0">
                <a:latin typeface="Calibri"/>
                <a:cs typeface="Calibri"/>
              </a:rPr>
              <a:t> </a:t>
            </a:r>
            <a:r>
              <a:rPr sz="1500" dirty="0">
                <a:latin typeface="Calibri"/>
                <a:cs typeface="Calibri"/>
              </a:rPr>
              <a:t>significant</a:t>
            </a:r>
            <a:r>
              <a:rPr sz="1500" spc="-20" dirty="0">
                <a:latin typeface="Calibri"/>
                <a:cs typeface="Calibri"/>
              </a:rPr>
              <a:t> </a:t>
            </a:r>
            <a:r>
              <a:rPr sz="1500" spc="-10" dirty="0">
                <a:latin typeface="Calibri"/>
                <a:cs typeface="Calibri"/>
              </a:rPr>
              <a:t>effect</a:t>
            </a:r>
            <a:r>
              <a:rPr sz="1500" spc="-30" dirty="0">
                <a:latin typeface="Calibri"/>
                <a:cs typeface="Calibri"/>
              </a:rPr>
              <a:t> </a:t>
            </a:r>
            <a:r>
              <a:rPr sz="1500" spc="-25" dirty="0">
                <a:latin typeface="Calibri"/>
                <a:cs typeface="Calibri"/>
              </a:rPr>
              <a:t>on </a:t>
            </a:r>
            <a:r>
              <a:rPr sz="1500" dirty="0">
                <a:latin typeface="Calibri"/>
                <a:cs typeface="Calibri"/>
              </a:rPr>
              <a:t>and</a:t>
            </a:r>
            <a:r>
              <a:rPr sz="1500" spc="-20" dirty="0">
                <a:latin typeface="Calibri"/>
                <a:cs typeface="Calibri"/>
              </a:rPr>
              <a:t> </a:t>
            </a:r>
            <a:r>
              <a:rPr sz="1500" dirty="0">
                <a:latin typeface="Calibri"/>
                <a:cs typeface="Calibri"/>
              </a:rPr>
              <a:t>that</a:t>
            </a:r>
            <a:r>
              <a:rPr sz="1500" spc="-15" dirty="0">
                <a:latin typeface="Calibri"/>
                <a:cs typeface="Calibri"/>
              </a:rPr>
              <a:t> </a:t>
            </a:r>
            <a:r>
              <a:rPr sz="1500" dirty="0">
                <a:latin typeface="Calibri"/>
                <a:cs typeface="Calibri"/>
              </a:rPr>
              <a:t>this</a:t>
            </a:r>
            <a:r>
              <a:rPr sz="1500" spc="-15" dirty="0">
                <a:latin typeface="Calibri"/>
                <a:cs typeface="Calibri"/>
              </a:rPr>
              <a:t> </a:t>
            </a:r>
            <a:r>
              <a:rPr sz="1500" spc="-10" dirty="0">
                <a:latin typeface="Calibri"/>
                <a:cs typeface="Calibri"/>
              </a:rPr>
              <a:t>effect</a:t>
            </a:r>
            <a:r>
              <a:rPr sz="1500" spc="-20" dirty="0">
                <a:latin typeface="Calibri"/>
                <a:cs typeface="Calibri"/>
              </a:rPr>
              <a:t> </a:t>
            </a:r>
            <a:r>
              <a:rPr sz="1500" dirty="0">
                <a:latin typeface="Calibri"/>
                <a:cs typeface="Calibri"/>
              </a:rPr>
              <a:t>may</a:t>
            </a:r>
            <a:r>
              <a:rPr sz="1500" spc="-25" dirty="0">
                <a:latin typeface="Calibri"/>
                <a:cs typeface="Calibri"/>
              </a:rPr>
              <a:t> </a:t>
            </a:r>
            <a:r>
              <a:rPr sz="1500" dirty="0">
                <a:latin typeface="Calibri"/>
                <a:cs typeface="Calibri"/>
              </a:rPr>
              <a:t>be</a:t>
            </a:r>
            <a:r>
              <a:rPr sz="1500" spc="-20" dirty="0">
                <a:latin typeface="Calibri"/>
                <a:cs typeface="Calibri"/>
              </a:rPr>
              <a:t> </a:t>
            </a:r>
            <a:r>
              <a:rPr sz="1500" dirty="0">
                <a:latin typeface="Calibri"/>
                <a:cs typeface="Calibri"/>
              </a:rPr>
              <a:t>mediated</a:t>
            </a:r>
            <a:r>
              <a:rPr sz="1500" spc="-15" dirty="0">
                <a:latin typeface="Calibri"/>
                <a:cs typeface="Calibri"/>
              </a:rPr>
              <a:t> </a:t>
            </a:r>
            <a:r>
              <a:rPr sz="1500" dirty="0">
                <a:latin typeface="Calibri"/>
                <a:cs typeface="Calibri"/>
              </a:rPr>
              <a:t>by</a:t>
            </a:r>
            <a:r>
              <a:rPr sz="1500" spc="-20" dirty="0">
                <a:latin typeface="Calibri"/>
                <a:cs typeface="Calibri"/>
              </a:rPr>
              <a:t> </a:t>
            </a:r>
            <a:r>
              <a:rPr sz="1500" dirty="0">
                <a:latin typeface="Calibri"/>
                <a:cs typeface="Calibri"/>
              </a:rPr>
              <a:t>[explain</a:t>
            </a:r>
            <a:r>
              <a:rPr sz="1500" spc="-15" dirty="0">
                <a:latin typeface="Calibri"/>
                <a:cs typeface="Calibri"/>
              </a:rPr>
              <a:t> </a:t>
            </a:r>
            <a:r>
              <a:rPr sz="1500" dirty="0">
                <a:latin typeface="Calibri"/>
                <a:cs typeface="Calibri"/>
              </a:rPr>
              <a:t>possible</a:t>
            </a:r>
            <a:r>
              <a:rPr sz="1500" spc="-20" dirty="0">
                <a:latin typeface="Calibri"/>
                <a:cs typeface="Calibri"/>
              </a:rPr>
              <a:t> </a:t>
            </a:r>
            <a:r>
              <a:rPr sz="1500" dirty="0">
                <a:latin typeface="Calibri"/>
                <a:cs typeface="Calibri"/>
              </a:rPr>
              <a:t>mechanisms].</a:t>
            </a:r>
            <a:r>
              <a:rPr sz="1500" spc="315" dirty="0">
                <a:latin typeface="Calibri"/>
                <a:cs typeface="Calibri"/>
              </a:rPr>
              <a:t> </a:t>
            </a:r>
            <a:r>
              <a:rPr sz="1500" dirty="0">
                <a:latin typeface="Calibri"/>
                <a:cs typeface="Calibri"/>
              </a:rPr>
              <a:t>The</a:t>
            </a:r>
            <a:r>
              <a:rPr sz="1500" spc="-20" dirty="0">
                <a:latin typeface="Calibri"/>
                <a:cs typeface="Calibri"/>
              </a:rPr>
              <a:t> </a:t>
            </a:r>
            <a:r>
              <a:rPr sz="1500" dirty="0">
                <a:latin typeface="Calibri"/>
                <a:cs typeface="Calibri"/>
              </a:rPr>
              <a:t>study</a:t>
            </a:r>
            <a:r>
              <a:rPr sz="1500" spc="-20" dirty="0">
                <a:latin typeface="Calibri"/>
                <a:cs typeface="Calibri"/>
              </a:rPr>
              <a:t> </a:t>
            </a:r>
            <a:r>
              <a:rPr sz="1500" spc="-25" dirty="0">
                <a:latin typeface="Calibri"/>
                <a:cs typeface="Calibri"/>
              </a:rPr>
              <a:t>has </a:t>
            </a:r>
            <a:r>
              <a:rPr sz="1500" dirty="0">
                <a:latin typeface="Calibri"/>
                <a:cs typeface="Calibri"/>
              </a:rPr>
              <a:t>some</a:t>
            </a:r>
            <a:r>
              <a:rPr sz="1500" spc="265" dirty="0">
                <a:latin typeface="Calibri"/>
                <a:cs typeface="Calibri"/>
              </a:rPr>
              <a:t> </a:t>
            </a:r>
            <a:r>
              <a:rPr sz="1500" dirty="0">
                <a:latin typeface="Calibri"/>
                <a:cs typeface="Calibri"/>
              </a:rPr>
              <a:t>limitations,</a:t>
            </a:r>
            <a:r>
              <a:rPr sz="1500" spc="290" dirty="0">
                <a:latin typeface="Calibri"/>
                <a:cs typeface="Calibri"/>
              </a:rPr>
              <a:t> </a:t>
            </a:r>
            <a:r>
              <a:rPr sz="1500" dirty="0">
                <a:latin typeface="Calibri"/>
                <a:cs typeface="Calibri"/>
              </a:rPr>
              <a:t>but</a:t>
            </a:r>
            <a:r>
              <a:rPr sz="1500" spc="-20"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implications</a:t>
            </a:r>
            <a:r>
              <a:rPr sz="1500" spc="-20"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findings</a:t>
            </a:r>
            <a:r>
              <a:rPr sz="1500" spc="-15" dirty="0">
                <a:latin typeface="Calibri"/>
                <a:cs typeface="Calibri"/>
              </a:rPr>
              <a:t> </a:t>
            </a:r>
            <a:r>
              <a:rPr sz="1500" dirty="0">
                <a:latin typeface="Calibri"/>
                <a:cs typeface="Calibri"/>
              </a:rPr>
              <a:t>are</a:t>
            </a:r>
            <a:r>
              <a:rPr sz="1500" spc="-40" dirty="0">
                <a:latin typeface="Calibri"/>
                <a:cs typeface="Calibri"/>
              </a:rPr>
              <a:t> </a:t>
            </a:r>
            <a:r>
              <a:rPr sz="1500" dirty="0">
                <a:latin typeface="Calibri"/>
                <a:cs typeface="Calibri"/>
              </a:rPr>
              <a:t>significant</a:t>
            </a:r>
            <a:r>
              <a:rPr sz="1500" spc="-15" dirty="0">
                <a:latin typeface="Calibri"/>
                <a:cs typeface="Calibri"/>
              </a:rPr>
              <a:t> </a:t>
            </a:r>
            <a:r>
              <a:rPr sz="1500" dirty="0">
                <a:latin typeface="Calibri"/>
                <a:cs typeface="Calibri"/>
              </a:rPr>
              <a:t>for</a:t>
            </a:r>
            <a:r>
              <a:rPr sz="1500" spc="-30" dirty="0">
                <a:latin typeface="Calibri"/>
                <a:cs typeface="Calibri"/>
              </a:rPr>
              <a:t> </a:t>
            </a:r>
            <a:r>
              <a:rPr sz="1500" spc="-10" dirty="0">
                <a:latin typeface="Calibri"/>
                <a:cs typeface="Calibri"/>
              </a:rPr>
              <a:t>clinical </a:t>
            </a:r>
            <a:r>
              <a:rPr sz="1500" dirty="0">
                <a:latin typeface="Calibri"/>
                <a:cs typeface="Calibri"/>
              </a:rPr>
              <a:t>practice</a:t>
            </a:r>
            <a:r>
              <a:rPr sz="1500" spc="-30" dirty="0">
                <a:latin typeface="Calibri"/>
                <a:cs typeface="Calibri"/>
              </a:rPr>
              <a:t> </a:t>
            </a:r>
            <a:r>
              <a:rPr sz="1500" dirty="0">
                <a:latin typeface="Calibri"/>
                <a:cs typeface="Calibri"/>
              </a:rPr>
              <a:t>and</a:t>
            </a:r>
            <a:r>
              <a:rPr sz="1500" spc="-20" dirty="0">
                <a:latin typeface="Calibri"/>
                <a:cs typeface="Calibri"/>
              </a:rPr>
              <a:t> </a:t>
            </a:r>
            <a:r>
              <a:rPr sz="1500" dirty="0">
                <a:latin typeface="Calibri"/>
                <a:cs typeface="Calibri"/>
              </a:rPr>
              <a:t>public</a:t>
            </a:r>
            <a:r>
              <a:rPr sz="1500" spc="-15" dirty="0">
                <a:latin typeface="Calibri"/>
                <a:cs typeface="Calibri"/>
              </a:rPr>
              <a:t> </a:t>
            </a:r>
            <a:r>
              <a:rPr sz="1500" dirty="0">
                <a:latin typeface="Calibri"/>
                <a:cs typeface="Calibri"/>
              </a:rPr>
              <a:t>health</a:t>
            </a:r>
            <a:r>
              <a:rPr sz="1500" spc="-20" dirty="0">
                <a:latin typeface="Calibri"/>
                <a:cs typeface="Calibri"/>
              </a:rPr>
              <a:t> </a:t>
            </a:r>
            <a:r>
              <a:rPr sz="1500" spc="-10" dirty="0">
                <a:latin typeface="Calibri"/>
                <a:cs typeface="Calibri"/>
              </a:rPr>
              <a:t>policy.</a:t>
            </a:r>
            <a:r>
              <a:rPr sz="1500" spc="-20" dirty="0">
                <a:latin typeface="Calibri"/>
                <a:cs typeface="Calibri"/>
              </a:rPr>
              <a:t> </a:t>
            </a:r>
            <a:r>
              <a:rPr sz="1500" dirty="0">
                <a:latin typeface="Calibri"/>
                <a:cs typeface="Calibri"/>
              </a:rPr>
              <a:t>Overall,</a:t>
            </a:r>
            <a:r>
              <a:rPr sz="1500" spc="-30" dirty="0">
                <a:latin typeface="Calibri"/>
                <a:cs typeface="Calibri"/>
              </a:rPr>
              <a:t> </a:t>
            </a:r>
            <a:r>
              <a:rPr sz="1500" dirty="0">
                <a:latin typeface="Calibri"/>
                <a:cs typeface="Calibri"/>
              </a:rPr>
              <a:t>this</a:t>
            </a:r>
            <a:r>
              <a:rPr sz="1500" spc="-15" dirty="0">
                <a:latin typeface="Calibri"/>
                <a:cs typeface="Calibri"/>
              </a:rPr>
              <a:t> </a:t>
            </a:r>
            <a:r>
              <a:rPr sz="1500" dirty="0">
                <a:latin typeface="Calibri"/>
                <a:cs typeface="Calibri"/>
              </a:rPr>
              <a:t>study</a:t>
            </a:r>
            <a:r>
              <a:rPr sz="1500" spc="-20" dirty="0">
                <a:latin typeface="Calibri"/>
                <a:cs typeface="Calibri"/>
              </a:rPr>
              <a:t> </a:t>
            </a:r>
            <a:r>
              <a:rPr sz="1500" spc="-10" dirty="0">
                <a:latin typeface="Calibri"/>
                <a:cs typeface="Calibri"/>
              </a:rPr>
              <a:t>contributes</a:t>
            </a:r>
            <a:r>
              <a:rPr sz="1500" spc="-20" dirty="0">
                <a:latin typeface="Calibri"/>
                <a:cs typeface="Calibri"/>
              </a:rPr>
              <a:t> </a:t>
            </a:r>
            <a:r>
              <a:rPr sz="1500" dirty="0">
                <a:latin typeface="Calibri"/>
                <a:cs typeface="Calibri"/>
              </a:rPr>
              <a:t>to</a:t>
            </a:r>
            <a:r>
              <a:rPr sz="1500" spc="-20"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knowledge</a:t>
            </a:r>
            <a:r>
              <a:rPr sz="1500" spc="-25" dirty="0">
                <a:latin typeface="Calibri"/>
                <a:cs typeface="Calibri"/>
              </a:rPr>
              <a:t> </a:t>
            </a:r>
            <a:r>
              <a:rPr sz="1500" spc="-20" dirty="0">
                <a:latin typeface="Calibri"/>
                <a:cs typeface="Calibri"/>
              </a:rPr>
              <a:t>base </a:t>
            </a:r>
            <a:r>
              <a:rPr sz="1500" dirty="0">
                <a:latin typeface="Calibri"/>
                <a:cs typeface="Calibri"/>
              </a:rPr>
              <a:t>in</a:t>
            </a:r>
            <a:r>
              <a:rPr sz="1500" spc="-30"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field</a:t>
            </a:r>
            <a:r>
              <a:rPr sz="1500" spc="-25" dirty="0">
                <a:latin typeface="Calibri"/>
                <a:cs typeface="Calibri"/>
              </a:rPr>
              <a:t> </a:t>
            </a:r>
            <a:r>
              <a:rPr sz="1500" dirty="0">
                <a:latin typeface="Calibri"/>
                <a:cs typeface="Calibri"/>
              </a:rPr>
              <a:t>and</a:t>
            </a:r>
            <a:r>
              <a:rPr sz="1500" spc="-20" dirty="0">
                <a:latin typeface="Calibri"/>
                <a:cs typeface="Calibri"/>
              </a:rPr>
              <a:t> </a:t>
            </a:r>
            <a:r>
              <a:rPr sz="1500" dirty="0">
                <a:latin typeface="Calibri"/>
                <a:cs typeface="Calibri"/>
              </a:rPr>
              <a:t>may</a:t>
            </a:r>
            <a:r>
              <a:rPr sz="1500" spc="-30" dirty="0">
                <a:latin typeface="Calibri"/>
                <a:cs typeface="Calibri"/>
              </a:rPr>
              <a:t> </a:t>
            </a:r>
            <a:r>
              <a:rPr sz="1500" dirty="0">
                <a:latin typeface="Calibri"/>
                <a:cs typeface="Calibri"/>
              </a:rPr>
              <a:t>pave</a:t>
            </a:r>
            <a:r>
              <a:rPr sz="1500" spc="-30"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way</a:t>
            </a:r>
            <a:r>
              <a:rPr sz="1500" spc="-30" dirty="0">
                <a:latin typeface="Calibri"/>
                <a:cs typeface="Calibri"/>
              </a:rPr>
              <a:t> </a:t>
            </a:r>
            <a:r>
              <a:rPr sz="1500" dirty="0">
                <a:latin typeface="Calibri"/>
                <a:cs typeface="Calibri"/>
              </a:rPr>
              <a:t>for</a:t>
            </a:r>
            <a:r>
              <a:rPr sz="1500" spc="-30" dirty="0">
                <a:latin typeface="Calibri"/>
                <a:cs typeface="Calibri"/>
              </a:rPr>
              <a:t> </a:t>
            </a:r>
            <a:r>
              <a:rPr sz="1500" dirty="0">
                <a:latin typeface="Calibri"/>
                <a:cs typeface="Calibri"/>
              </a:rPr>
              <a:t>further</a:t>
            </a:r>
            <a:r>
              <a:rPr sz="1500" spc="-25" dirty="0">
                <a:latin typeface="Calibri"/>
                <a:cs typeface="Calibri"/>
              </a:rPr>
              <a:t> </a:t>
            </a:r>
            <a:r>
              <a:rPr sz="1500" spc="-10" dirty="0">
                <a:latin typeface="Calibri"/>
                <a:cs typeface="Calibri"/>
              </a:rPr>
              <a:t>discoveries.</a:t>
            </a:r>
            <a:endParaRPr sz="1500" dirty="0">
              <a:latin typeface="Calibri"/>
              <a:cs typeface="Calibri"/>
            </a:endParaRPr>
          </a:p>
          <a:p>
            <a:pPr marL="19050">
              <a:lnSpc>
                <a:spcPct val="100000"/>
              </a:lnSpc>
              <a:spcBef>
                <a:spcPts val="1145"/>
              </a:spcBef>
              <a:tabLst>
                <a:tab pos="2832735" algn="l"/>
                <a:tab pos="6877684" algn="l"/>
              </a:tabLst>
            </a:pPr>
            <a:r>
              <a:rPr sz="2500" u="sng" dirty="0">
                <a:solidFill>
                  <a:srgbClr val="008F00"/>
                </a:solidFill>
                <a:uFill>
                  <a:solidFill>
                    <a:srgbClr val="008F00"/>
                  </a:solidFill>
                </a:uFill>
                <a:latin typeface="Times New Roman"/>
                <a:cs typeface="Times New Roman"/>
              </a:rPr>
              <a:t>	</a:t>
            </a:r>
            <a:r>
              <a:rPr sz="2500" b="1" u="sng" spc="-10" dirty="0">
                <a:solidFill>
                  <a:srgbClr val="008F00"/>
                </a:solidFill>
                <a:uFill>
                  <a:solidFill>
                    <a:srgbClr val="008F00"/>
                  </a:solidFill>
                </a:uFill>
                <a:latin typeface="Calibri"/>
                <a:cs typeface="Calibri"/>
              </a:rPr>
              <a:t>REFERENCES</a:t>
            </a:r>
            <a:r>
              <a:rPr sz="2500" b="1" u="sng" dirty="0">
                <a:solidFill>
                  <a:srgbClr val="008F00"/>
                </a:solidFill>
                <a:uFill>
                  <a:solidFill>
                    <a:srgbClr val="008F00"/>
                  </a:solidFill>
                </a:uFill>
                <a:latin typeface="Calibri"/>
                <a:cs typeface="Calibri"/>
              </a:rPr>
              <a:t>	</a:t>
            </a:r>
            <a:endParaRPr sz="2500" dirty="0">
              <a:latin typeface="Calibri"/>
              <a:cs typeface="Calibri"/>
            </a:endParaRPr>
          </a:p>
          <a:p>
            <a:pPr marL="33020" marR="347345" indent="98425">
              <a:lnSpc>
                <a:spcPct val="103400"/>
              </a:lnSpc>
              <a:spcBef>
                <a:spcPts val="695"/>
              </a:spcBef>
              <a:buSzPct val="90000"/>
              <a:buAutoNum type="arabicPeriod"/>
              <a:tabLst>
                <a:tab pos="131445" algn="l"/>
              </a:tabLst>
            </a:pPr>
            <a:r>
              <a:rPr sz="1000" dirty="0">
                <a:latin typeface="Calibri"/>
                <a:cs typeface="Calibri"/>
              </a:rPr>
              <a:t>Lefteris</a:t>
            </a:r>
            <a:r>
              <a:rPr sz="1000" spc="60" dirty="0">
                <a:latin typeface="Calibri"/>
                <a:cs typeface="Calibri"/>
              </a:rPr>
              <a:t> </a:t>
            </a:r>
            <a:r>
              <a:rPr sz="1000" dirty="0">
                <a:latin typeface="Calibri"/>
                <a:cs typeface="Calibri"/>
              </a:rPr>
              <a:t>Benos,</a:t>
            </a:r>
            <a:r>
              <a:rPr sz="1000" spc="55" dirty="0">
                <a:latin typeface="Calibri"/>
                <a:cs typeface="Calibri"/>
              </a:rPr>
              <a:t> </a:t>
            </a:r>
            <a:r>
              <a:rPr sz="1000" dirty="0">
                <a:latin typeface="Calibri"/>
                <a:cs typeface="Calibri"/>
              </a:rPr>
              <a:t>Aristotelis</a:t>
            </a:r>
            <a:r>
              <a:rPr sz="1000" spc="60" dirty="0">
                <a:latin typeface="Calibri"/>
                <a:cs typeface="Calibri"/>
              </a:rPr>
              <a:t> </a:t>
            </a:r>
            <a:r>
              <a:rPr sz="1000" dirty="0">
                <a:latin typeface="Calibri"/>
                <a:cs typeface="Calibri"/>
              </a:rPr>
              <a:t>C</a:t>
            </a:r>
            <a:r>
              <a:rPr sz="1000" spc="55" dirty="0">
                <a:latin typeface="Calibri"/>
                <a:cs typeface="Calibri"/>
              </a:rPr>
              <a:t> </a:t>
            </a:r>
            <a:r>
              <a:rPr sz="1000" dirty="0">
                <a:latin typeface="Calibri"/>
                <a:cs typeface="Calibri"/>
              </a:rPr>
              <a:t>Tagarakis,</a:t>
            </a:r>
            <a:r>
              <a:rPr sz="1000" spc="40" dirty="0">
                <a:latin typeface="Calibri"/>
                <a:cs typeface="Calibri"/>
              </a:rPr>
              <a:t> </a:t>
            </a:r>
            <a:r>
              <a:rPr sz="1000" dirty="0">
                <a:latin typeface="Calibri"/>
                <a:cs typeface="Calibri"/>
              </a:rPr>
              <a:t>Georgios</a:t>
            </a:r>
            <a:r>
              <a:rPr sz="1000" spc="60" dirty="0">
                <a:latin typeface="Calibri"/>
                <a:cs typeface="Calibri"/>
              </a:rPr>
              <a:t> </a:t>
            </a:r>
            <a:r>
              <a:rPr sz="1000" dirty="0">
                <a:latin typeface="Calibri"/>
                <a:cs typeface="Calibri"/>
              </a:rPr>
              <a:t>Dolias,</a:t>
            </a:r>
            <a:r>
              <a:rPr sz="1000" spc="45" dirty="0">
                <a:latin typeface="Calibri"/>
                <a:cs typeface="Calibri"/>
              </a:rPr>
              <a:t> </a:t>
            </a:r>
            <a:r>
              <a:rPr sz="1000" dirty="0">
                <a:latin typeface="Calibri"/>
                <a:cs typeface="Calibri"/>
              </a:rPr>
              <a:t>Remigio</a:t>
            </a:r>
            <a:r>
              <a:rPr sz="1000" spc="60" dirty="0">
                <a:latin typeface="Calibri"/>
                <a:cs typeface="Calibri"/>
              </a:rPr>
              <a:t> </a:t>
            </a:r>
            <a:r>
              <a:rPr sz="1000" dirty="0">
                <a:latin typeface="Calibri"/>
                <a:cs typeface="Calibri"/>
              </a:rPr>
              <a:t>Berruto,</a:t>
            </a:r>
            <a:r>
              <a:rPr sz="1000" spc="60" dirty="0">
                <a:latin typeface="Calibri"/>
                <a:cs typeface="Calibri"/>
              </a:rPr>
              <a:t> </a:t>
            </a:r>
            <a:r>
              <a:rPr sz="1000" dirty="0">
                <a:latin typeface="Calibri"/>
                <a:cs typeface="Calibri"/>
              </a:rPr>
              <a:t>Dimitrios</a:t>
            </a:r>
            <a:r>
              <a:rPr sz="1000" spc="55" dirty="0">
                <a:latin typeface="Calibri"/>
                <a:cs typeface="Calibri"/>
              </a:rPr>
              <a:t> </a:t>
            </a:r>
            <a:r>
              <a:rPr sz="1000" dirty="0">
                <a:latin typeface="Calibri"/>
                <a:cs typeface="Calibri"/>
              </a:rPr>
              <a:t>Kateris,</a:t>
            </a:r>
            <a:r>
              <a:rPr sz="1000" spc="50" dirty="0">
                <a:latin typeface="Calibri"/>
                <a:cs typeface="Calibri"/>
              </a:rPr>
              <a:t> </a:t>
            </a:r>
            <a:r>
              <a:rPr sz="1000" dirty="0">
                <a:latin typeface="Calibri"/>
                <a:cs typeface="Calibri"/>
              </a:rPr>
              <a:t>and</a:t>
            </a:r>
            <a:r>
              <a:rPr sz="1000" spc="50" dirty="0">
                <a:latin typeface="Calibri"/>
                <a:cs typeface="Calibri"/>
              </a:rPr>
              <a:t> </a:t>
            </a:r>
            <a:r>
              <a:rPr sz="1000" dirty="0">
                <a:latin typeface="Calibri"/>
                <a:cs typeface="Calibri"/>
              </a:rPr>
              <a:t>Dionysis</a:t>
            </a:r>
            <a:r>
              <a:rPr sz="1000" spc="45" dirty="0">
                <a:latin typeface="Calibri"/>
                <a:cs typeface="Calibri"/>
              </a:rPr>
              <a:t> </a:t>
            </a:r>
            <a:r>
              <a:rPr sz="1000" dirty="0">
                <a:latin typeface="Calibri"/>
                <a:cs typeface="Calibri"/>
              </a:rPr>
              <a:t>Bochtis.</a:t>
            </a:r>
            <a:r>
              <a:rPr sz="1000" spc="120" dirty="0">
                <a:latin typeface="Calibri"/>
                <a:cs typeface="Calibri"/>
              </a:rPr>
              <a:t> </a:t>
            </a:r>
            <a:r>
              <a:rPr sz="1000" spc="-10" dirty="0">
                <a:latin typeface="Calibri"/>
                <a:cs typeface="Calibri"/>
              </a:rPr>
              <a:t>Machine </a:t>
            </a:r>
            <a:r>
              <a:rPr sz="1000" dirty="0">
                <a:latin typeface="Calibri"/>
                <a:cs typeface="Calibri"/>
              </a:rPr>
              <a:t>learning</a:t>
            </a:r>
            <a:r>
              <a:rPr sz="1000" spc="75" dirty="0">
                <a:latin typeface="Calibri"/>
                <a:cs typeface="Calibri"/>
              </a:rPr>
              <a:t> </a:t>
            </a:r>
            <a:r>
              <a:rPr sz="1000" dirty="0">
                <a:latin typeface="Calibri"/>
                <a:cs typeface="Calibri"/>
              </a:rPr>
              <a:t>in</a:t>
            </a:r>
            <a:r>
              <a:rPr sz="1000" spc="80" dirty="0">
                <a:latin typeface="Calibri"/>
                <a:cs typeface="Calibri"/>
              </a:rPr>
              <a:t> </a:t>
            </a:r>
            <a:r>
              <a:rPr sz="1000" dirty="0">
                <a:latin typeface="Calibri"/>
                <a:cs typeface="Calibri"/>
              </a:rPr>
              <a:t>agriculture:</a:t>
            </a:r>
            <a:r>
              <a:rPr sz="1000" spc="65" dirty="0">
                <a:latin typeface="Calibri"/>
                <a:cs typeface="Calibri"/>
              </a:rPr>
              <a:t> </a:t>
            </a:r>
            <a:r>
              <a:rPr sz="1000" dirty="0">
                <a:latin typeface="Calibri"/>
                <a:cs typeface="Calibri"/>
              </a:rPr>
              <a:t>A</a:t>
            </a:r>
            <a:r>
              <a:rPr sz="1000" spc="85" dirty="0">
                <a:latin typeface="Calibri"/>
                <a:cs typeface="Calibri"/>
              </a:rPr>
              <a:t> </a:t>
            </a:r>
            <a:r>
              <a:rPr sz="1000" dirty="0">
                <a:latin typeface="Calibri"/>
                <a:cs typeface="Calibri"/>
              </a:rPr>
              <a:t>comprehensive</a:t>
            </a:r>
            <a:r>
              <a:rPr sz="1000" spc="85" dirty="0">
                <a:latin typeface="Calibri"/>
                <a:cs typeface="Calibri"/>
              </a:rPr>
              <a:t> </a:t>
            </a:r>
            <a:r>
              <a:rPr sz="1000" dirty="0">
                <a:latin typeface="Calibri"/>
                <a:cs typeface="Calibri"/>
              </a:rPr>
              <a:t>updated</a:t>
            </a:r>
            <a:r>
              <a:rPr sz="1000" spc="80" dirty="0">
                <a:latin typeface="Calibri"/>
                <a:cs typeface="Calibri"/>
              </a:rPr>
              <a:t> </a:t>
            </a:r>
            <a:r>
              <a:rPr sz="1000" dirty="0">
                <a:latin typeface="Calibri"/>
                <a:cs typeface="Calibri"/>
              </a:rPr>
              <a:t>review.</a:t>
            </a:r>
            <a:r>
              <a:rPr sz="1000" spc="80" dirty="0">
                <a:latin typeface="Calibri"/>
                <a:cs typeface="Calibri"/>
              </a:rPr>
              <a:t> </a:t>
            </a:r>
            <a:r>
              <a:rPr sz="1000" i="1" dirty="0">
                <a:latin typeface="Arial"/>
                <a:cs typeface="Arial"/>
              </a:rPr>
              <a:t>Sensors</a:t>
            </a:r>
            <a:r>
              <a:rPr sz="1000" dirty="0">
                <a:latin typeface="Calibri"/>
                <a:cs typeface="Calibri"/>
              </a:rPr>
              <a:t>,</a:t>
            </a:r>
            <a:r>
              <a:rPr sz="1000" spc="80" dirty="0">
                <a:latin typeface="Calibri"/>
                <a:cs typeface="Calibri"/>
              </a:rPr>
              <a:t> </a:t>
            </a:r>
            <a:r>
              <a:rPr sz="1000" dirty="0">
                <a:latin typeface="Calibri"/>
                <a:cs typeface="Calibri"/>
              </a:rPr>
              <a:t>21(11):3758,</a:t>
            </a:r>
            <a:r>
              <a:rPr sz="1000" spc="70" dirty="0">
                <a:latin typeface="Calibri"/>
                <a:cs typeface="Calibri"/>
              </a:rPr>
              <a:t> </a:t>
            </a:r>
            <a:r>
              <a:rPr sz="1000" spc="-10" dirty="0">
                <a:latin typeface="Calibri"/>
                <a:cs typeface="Calibri"/>
              </a:rPr>
              <a:t>2021.</a:t>
            </a:r>
            <a:endParaRPr sz="1000" dirty="0">
              <a:latin typeface="Calibri"/>
              <a:cs typeface="Calibri"/>
            </a:endParaRPr>
          </a:p>
          <a:p>
            <a:pPr marL="33020" marR="311785" indent="98425">
              <a:lnSpc>
                <a:spcPct val="103800"/>
              </a:lnSpc>
              <a:spcBef>
                <a:spcPts val="740"/>
              </a:spcBef>
              <a:buSzPct val="90000"/>
              <a:buAutoNum type="arabicPeriod"/>
              <a:tabLst>
                <a:tab pos="131445" algn="l"/>
                <a:tab pos="6157595" algn="l"/>
              </a:tabLst>
            </a:pPr>
            <a:r>
              <a:rPr sz="1000" dirty="0">
                <a:latin typeface="Calibri"/>
                <a:cs typeface="Calibri"/>
              </a:rPr>
              <a:t>Ania</a:t>
            </a:r>
            <a:r>
              <a:rPr sz="1000" spc="65" dirty="0">
                <a:latin typeface="Calibri"/>
                <a:cs typeface="Calibri"/>
              </a:rPr>
              <a:t> </a:t>
            </a:r>
            <a:r>
              <a:rPr sz="1000" dirty="0">
                <a:latin typeface="Calibri"/>
                <a:cs typeface="Calibri"/>
              </a:rPr>
              <a:t>Cravero</a:t>
            </a:r>
            <a:r>
              <a:rPr sz="1000" spc="60" dirty="0">
                <a:latin typeface="Calibri"/>
                <a:cs typeface="Calibri"/>
              </a:rPr>
              <a:t> </a:t>
            </a:r>
            <a:r>
              <a:rPr sz="1000" dirty="0">
                <a:latin typeface="Calibri"/>
                <a:cs typeface="Calibri"/>
              </a:rPr>
              <a:t>and</a:t>
            </a:r>
            <a:r>
              <a:rPr sz="1000" spc="65" dirty="0">
                <a:latin typeface="Calibri"/>
                <a:cs typeface="Calibri"/>
              </a:rPr>
              <a:t> </a:t>
            </a:r>
            <a:r>
              <a:rPr sz="1000" dirty="0">
                <a:latin typeface="Calibri"/>
                <a:cs typeface="Calibri"/>
              </a:rPr>
              <a:t>Samuel</a:t>
            </a:r>
            <a:r>
              <a:rPr sz="1000" spc="75" dirty="0">
                <a:latin typeface="Calibri"/>
                <a:cs typeface="Calibri"/>
              </a:rPr>
              <a:t> </a:t>
            </a:r>
            <a:r>
              <a:rPr sz="1000" dirty="0">
                <a:latin typeface="Calibri"/>
                <a:cs typeface="Calibri"/>
              </a:rPr>
              <a:t>Sepúlveda.</a:t>
            </a:r>
            <a:r>
              <a:rPr sz="1000" spc="65" dirty="0">
                <a:latin typeface="Calibri"/>
                <a:cs typeface="Calibri"/>
              </a:rPr>
              <a:t> </a:t>
            </a:r>
            <a:r>
              <a:rPr sz="1000" dirty="0">
                <a:latin typeface="Calibri"/>
                <a:cs typeface="Calibri"/>
              </a:rPr>
              <a:t>Use</a:t>
            </a:r>
            <a:r>
              <a:rPr sz="1000" spc="80" dirty="0">
                <a:latin typeface="Calibri"/>
                <a:cs typeface="Calibri"/>
              </a:rPr>
              <a:t> </a:t>
            </a:r>
            <a:r>
              <a:rPr sz="1000" dirty="0">
                <a:latin typeface="Calibri"/>
                <a:cs typeface="Calibri"/>
              </a:rPr>
              <a:t>and</a:t>
            </a:r>
            <a:r>
              <a:rPr sz="1000" spc="70" dirty="0">
                <a:latin typeface="Calibri"/>
                <a:cs typeface="Calibri"/>
              </a:rPr>
              <a:t> </a:t>
            </a:r>
            <a:r>
              <a:rPr sz="1000" dirty="0">
                <a:latin typeface="Calibri"/>
                <a:cs typeface="Calibri"/>
              </a:rPr>
              <a:t>adaptations</a:t>
            </a:r>
            <a:r>
              <a:rPr sz="1000" spc="60" dirty="0">
                <a:latin typeface="Calibri"/>
                <a:cs typeface="Calibri"/>
              </a:rPr>
              <a:t> </a:t>
            </a:r>
            <a:r>
              <a:rPr sz="1000" dirty="0">
                <a:latin typeface="Calibri"/>
                <a:cs typeface="Calibri"/>
              </a:rPr>
              <a:t>of</a:t>
            </a:r>
            <a:r>
              <a:rPr sz="1000" spc="70" dirty="0">
                <a:latin typeface="Calibri"/>
                <a:cs typeface="Calibri"/>
              </a:rPr>
              <a:t> </a:t>
            </a:r>
            <a:r>
              <a:rPr sz="1000" dirty="0">
                <a:latin typeface="Calibri"/>
                <a:cs typeface="Calibri"/>
              </a:rPr>
              <a:t>machine</a:t>
            </a:r>
            <a:r>
              <a:rPr sz="1000" spc="70" dirty="0">
                <a:latin typeface="Calibri"/>
                <a:cs typeface="Calibri"/>
              </a:rPr>
              <a:t> </a:t>
            </a:r>
            <a:r>
              <a:rPr sz="1000" dirty="0">
                <a:latin typeface="Calibri"/>
                <a:cs typeface="Calibri"/>
              </a:rPr>
              <a:t>learning</a:t>
            </a:r>
            <a:r>
              <a:rPr sz="1000" spc="65" dirty="0">
                <a:latin typeface="Calibri"/>
                <a:cs typeface="Calibri"/>
              </a:rPr>
              <a:t> </a:t>
            </a:r>
            <a:r>
              <a:rPr sz="1000" dirty="0">
                <a:latin typeface="Calibri"/>
                <a:cs typeface="Calibri"/>
              </a:rPr>
              <a:t>in</a:t>
            </a:r>
            <a:r>
              <a:rPr sz="1000" spc="65" dirty="0">
                <a:latin typeface="Calibri"/>
                <a:cs typeface="Calibri"/>
              </a:rPr>
              <a:t> </a:t>
            </a:r>
            <a:r>
              <a:rPr sz="1000" dirty="0">
                <a:latin typeface="Calibri"/>
                <a:cs typeface="Calibri"/>
              </a:rPr>
              <a:t>big</a:t>
            </a:r>
            <a:r>
              <a:rPr sz="1000" spc="70" dirty="0">
                <a:latin typeface="Calibri"/>
                <a:cs typeface="Calibri"/>
              </a:rPr>
              <a:t> </a:t>
            </a:r>
            <a:r>
              <a:rPr sz="1000" dirty="0">
                <a:latin typeface="Calibri"/>
                <a:cs typeface="Calibri"/>
              </a:rPr>
              <a:t>data—applications</a:t>
            </a:r>
            <a:r>
              <a:rPr sz="1000" spc="50" dirty="0">
                <a:latin typeface="Calibri"/>
                <a:cs typeface="Calibri"/>
              </a:rPr>
              <a:t> </a:t>
            </a:r>
            <a:r>
              <a:rPr sz="1000" dirty="0">
                <a:latin typeface="Calibri"/>
                <a:cs typeface="Calibri"/>
              </a:rPr>
              <a:t>in</a:t>
            </a:r>
            <a:r>
              <a:rPr sz="1000" spc="70" dirty="0">
                <a:latin typeface="Calibri"/>
                <a:cs typeface="Calibri"/>
              </a:rPr>
              <a:t> </a:t>
            </a:r>
            <a:r>
              <a:rPr sz="1000" spc="-20" dirty="0">
                <a:latin typeface="Calibri"/>
                <a:cs typeface="Calibri"/>
              </a:rPr>
              <a:t>real</a:t>
            </a:r>
            <a:r>
              <a:rPr sz="1000" dirty="0">
                <a:latin typeface="Calibri"/>
                <a:cs typeface="Calibri"/>
              </a:rPr>
              <a:t>	cases</a:t>
            </a:r>
            <a:r>
              <a:rPr sz="1000" spc="50" dirty="0">
                <a:latin typeface="Calibri"/>
                <a:cs typeface="Calibri"/>
              </a:rPr>
              <a:t> </a:t>
            </a:r>
            <a:r>
              <a:rPr sz="1000" spc="-25" dirty="0">
                <a:latin typeface="Calibri"/>
                <a:cs typeface="Calibri"/>
              </a:rPr>
              <a:t>in</a:t>
            </a:r>
            <a:r>
              <a:rPr sz="1000" dirty="0">
                <a:latin typeface="Calibri"/>
                <a:cs typeface="Calibri"/>
              </a:rPr>
              <a:t> agriculture.</a:t>
            </a:r>
            <a:r>
              <a:rPr sz="1000" spc="100" dirty="0">
                <a:latin typeface="Calibri"/>
                <a:cs typeface="Calibri"/>
              </a:rPr>
              <a:t> </a:t>
            </a:r>
            <a:r>
              <a:rPr sz="1000" i="1" dirty="0">
                <a:latin typeface="Arial"/>
                <a:cs typeface="Arial"/>
              </a:rPr>
              <a:t>Electronics</a:t>
            </a:r>
            <a:r>
              <a:rPr sz="1000" dirty="0">
                <a:latin typeface="Calibri"/>
                <a:cs typeface="Calibri"/>
              </a:rPr>
              <a:t>,</a:t>
            </a:r>
            <a:r>
              <a:rPr sz="1000" spc="114" dirty="0">
                <a:latin typeface="Calibri"/>
                <a:cs typeface="Calibri"/>
              </a:rPr>
              <a:t> </a:t>
            </a:r>
            <a:r>
              <a:rPr sz="1000" dirty="0">
                <a:latin typeface="Calibri"/>
                <a:cs typeface="Calibri"/>
              </a:rPr>
              <a:t>10(5):552,</a:t>
            </a:r>
            <a:r>
              <a:rPr sz="1000" spc="110" dirty="0">
                <a:latin typeface="Calibri"/>
                <a:cs typeface="Calibri"/>
              </a:rPr>
              <a:t> </a:t>
            </a:r>
            <a:r>
              <a:rPr sz="1000" spc="-10" dirty="0">
                <a:latin typeface="Calibri"/>
                <a:cs typeface="Calibri"/>
              </a:rPr>
              <a:t>2021.</a:t>
            </a:r>
            <a:endParaRPr sz="1000" dirty="0">
              <a:latin typeface="Calibri"/>
              <a:cs typeface="Calibri"/>
            </a:endParaRPr>
          </a:p>
        </p:txBody>
      </p:sp>
      <p:sp>
        <p:nvSpPr>
          <p:cNvPr id="30" name="object 30"/>
          <p:cNvSpPr txBox="1"/>
          <p:nvPr/>
        </p:nvSpPr>
        <p:spPr>
          <a:xfrm>
            <a:off x="7323303" y="18232355"/>
            <a:ext cx="6788150" cy="1054735"/>
          </a:xfrm>
          <a:prstGeom prst="rect">
            <a:avLst/>
          </a:prstGeom>
        </p:spPr>
        <p:txBody>
          <a:bodyPr vert="horz" wrap="square" lIns="0" tIns="10160" rIns="0" bIns="0" rtlCol="0">
            <a:spAutoFit/>
          </a:bodyPr>
          <a:lstStyle/>
          <a:p>
            <a:pPr marL="12700" marR="203200" indent="98425">
              <a:lnSpc>
                <a:spcPct val="104299"/>
              </a:lnSpc>
              <a:spcBef>
                <a:spcPts val="80"/>
              </a:spcBef>
              <a:buSzPct val="90000"/>
              <a:buAutoNum type="arabicPeriod" startAt="3"/>
              <a:tabLst>
                <a:tab pos="111125" algn="l"/>
              </a:tabLst>
            </a:pPr>
            <a:r>
              <a:rPr sz="1000" dirty="0">
                <a:latin typeface="Calibri"/>
                <a:cs typeface="Calibri"/>
              </a:rPr>
              <a:t>Mirza</a:t>
            </a:r>
            <a:r>
              <a:rPr sz="1000" spc="50" dirty="0">
                <a:latin typeface="Calibri"/>
                <a:cs typeface="Calibri"/>
              </a:rPr>
              <a:t> </a:t>
            </a:r>
            <a:r>
              <a:rPr sz="1000" dirty="0">
                <a:latin typeface="Calibri"/>
                <a:cs typeface="Calibri"/>
              </a:rPr>
              <a:t>Golam</a:t>
            </a:r>
            <a:r>
              <a:rPr sz="1000" spc="60" dirty="0">
                <a:latin typeface="Calibri"/>
                <a:cs typeface="Calibri"/>
              </a:rPr>
              <a:t> </a:t>
            </a:r>
            <a:r>
              <a:rPr sz="1000" dirty="0">
                <a:latin typeface="Calibri"/>
                <a:cs typeface="Calibri"/>
              </a:rPr>
              <a:t>Kibria,</a:t>
            </a:r>
            <a:r>
              <a:rPr sz="1000" spc="40" dirty="0">
                <a:latin typeface="Calibri"/>
                <a:cs typeface="Calibri"/>
              </a:rPr>
              <a:t> </a:t>
            </a:r>
            <a:r>
              <a:rPr sz="1000" dirty="0">
                <a:latin typeface="Calibri"/>
                <a:cs typeface="Calibri"/>
              </a:rPr>
              <a:t>Kien</a:t>
            </a:r>
            <a:r>
              <a:rPr sz="1000" spc="55" dirty="0">
                <a:latin typeface="Calibri"/>
                <a:cs typeface="Calibri"/>
              </a:rPr>
              <a:t> </a:t>
            </a:r>
            <a:r>
              <a:rPr sz="1000" dirty="0">
                <a:latin typeface="Calibri"/>
                <a:cs typeface="Calibri"/>
              </a:rPr>
              <a:t>Nguyen,</a:t>
            </a:r>
            <a:r>
              <a:rPr sz="1000" spc="60" dirty="0">
                <a:latin typeface="Calibri"/>
                <a:cs typeface="Calibri"/>
              </a:rPr>
              <a:t> </a:t>
            </a:r>
            <a:r>
              <a:rPr sz="1000" dirty="0">
                <a:latin typeface="Calibri"/>
                <a:cs typeface="Calibri"/>
              </a:rPr>
              <a:t>Gabriel</a:t>
            </a:r>
            <a:r>
              <a:rPr sz="1000" spc="45" dirty="0">
                <a:latin typeface="Calibri"/>
                <a:cs typeface="Calibri"/>
              </a:rPr>
              <a:t> </a:t>
            </a:r>
            <a:r>
              <a:rPr sz="1000" dirty="0">
                <a:latin typeface="Calibri"/>
                <a:cs typeface="Calibri"/>
              </a:rPr>
              <a:t>Porto</a:t>
            </a:r>
            <a:r>
              <a:rPr sz="1000" spc="60" dirty="0">
                <a:latin typeface="Calibri"/>
                <a:cs typeface="Calibri"/>
              </a:rPr>
              <a:t> </a:t>
            </a:r>
            <a:r>
              <a:rPr sz="1000" dirty="0">
                <a:latin typeface="Calibri"/>
                <a:cs typeface="Calibri"/>
              </a:rPr>
              <a:t>Villardi,</a:t>
            </a:r>
            <a:r>
              <a:rPr sz="1000" spc="40" dirty="0">
                <a:latin typeface="Calibri"/>
                <a:cs typeface="Calibri"/>
              </a:rPr>
              <a:t> </a:t>
            </a:r>
            <a:r>
              <a:rPr sz="1000" dirty="0">
                <a:latin typeface="Calibri"/>
                <a:cs typeface="Calibri"/>
              </a:rPr>
              <a:t>Ou</a:t>
            </a:r>
            <a:r>
              <a:rPr sz="1000" spc="50" dirty="0">
                <a:latin typeface="Calibri"/>
                <a:cs typeface="Calibri"/>
              </a:rPr>
              <a:t> </a:t>
            </a:r>
            <a:r>
              <a:rPr sz="1000" dirty="0">
                <a:latin typeface="Calibri"/>
                <a:cs typeface="Calibri"/>
              </a:rPr>
              <a:t>Zhao,</a:t>
            </a:r>
            <a:r>
              <a:rPr sz="1000" spc="45" dirty="0">
                <a:latin typeface="Calibri"/>
                <a:cs typeface="Calibri"/>
              </a:rPr>
              <a:t> </a:t>
            </a:r>
            <a:r>
              <a:rPr sz="1000" dirty="0">
                <a:latin typeface="Calibri"/>
                <a:cs typeface="Calibri"/>
              </a:rPr>
              <a:t>Kentaro</a:t>
            </a:r>
            <a:r>
              <a:rPr sz="1000" spc="60" dirty="0">
                <a:latin typeface="Calibri"/>
                <a:cs typeface="Calibri"/>
              </a:rPr>
              <a:t> </a:t>
            </a:r>
            <a:r>
              <a:rPr sz="1000" dirty="0">
                <a:latin typeface="Calibri"/>
                <a:cs typeface="Calibri"/>
              </a:rPr>
              <a:t>Ishizu,</a:t>
            </a:r>
            <a:r>
              <a:rPr sz="1000" spc="55" dirty="0">
                <a:latin typeface="Calibri"/>
                <a:cs typeface="Calibri"/>
              </a:rPr>
              <a:t> </a:t>
            </a:r>
            <a:r>
              <a:rPr sz="1000" dirty="0">
                <a:latin typeface="Calibri"/>
                <a:cs typeface="Calibri"/>
              </a:rPr>
              <a:t>and</a:t>
            </a:r>
            <a:r>
              <a:rPr sz="1000" spc="45" dirty="0">
                <a:latin typeface="Calibri"/>
                <a:cs typeface="Calibri"/>
              </a:rPr>
              <a:t> </a:t>
            </a:r>
            <a:r>
              <a:rPr sz="1000" dirty="0">
                <a:latin typeface="Calibri"/>
                <a:cs typeface="Calibri"/>
              </a:rPr>
              <a:t>Fumihide</a:t>
            </a:r>
            <a:r>
              <a:rPr sz="1000" spc="65" dirty="0">
                <a:latin typeface="Calibri"/>
                <a:cs typeface="Calibri"/>
              </a:rPr>
              <a:t> </a:t>
            </a:r>
            <a:r>
              <a:rPr sz="1000" dirty="0">
                <a:latin typeface="Calibri"/>
                <a:cs typeface="Calibri"/>
              </a:rPr>
              <a:t>Kojima.</a:t>
            </a:r>
            <a:r>
              <a:rPr sz="1000" spc="45" dirty="0">
                <a:latin typeface="Calibri"/>
                <a:cs typeface="Calibri"/>
              </a:rPr>
              <a:t> </a:t>
            </a:r>
            <a:r>
              <a:rPr sz="1000" dirty="0">
                <a:latin typeface="Calibri"/>
                <a:cs typeface="Calibri"/>
              </a:rPr>
              <a:t>Big</a:t>
            </a:r>
            <a:r>
              <a:rPr sz="1000" spc="55" dirty="0">
                <a:latin typeface="Calibri"/>
                <a:cs typeface="Calibri"/>
              </a:rPr>
              <a:t> </a:t>
            </a:r>
            <a:r>
              <a:rPr sz="1000" dirty="0">
                <a:latin typeface="Calibri"/>
                <a:cs typeface="Calibri"/>
              </a:rPr>
              <a:t>data</a:t>
            </a:r>
            <a:r>
              <a:rPr sz="1000" spc="340" dirty="0">
                <a:latin typeface="Calibri"/>
                <a:cs typeface="Calibri"/>
              </a:rPr>
              <a:t> </a:t>
            </a:r>
            <a:r>
              <a:rPr sz="1000" spc="-10" dirty="0">
                <a:latin typeface="Calibri"/>
                <a:cs typeface="Calibri"/>
              </a:rPr>
              <a:t>analytics, </a:t>
            </a:r>
            <a:r>
              <a:rPr sz="1000" dirty="0">
                <a:latin typeface="Calibri"/>
                <a:cs typeface="Calibri"/>
              </a:rPr>
              <a:t>machine</a:t>
            </a:r>
            <a:r>
              <a:rPr sz="1000" spc="75" dirty="0">
                <a:latin typeface="Calibri"/>
                <a:cs typeface="Calibri"/>
              </a:rPr>
              <a:t> </a:t>
            </a:r>
            <a:r>
              <a:rPr sz="1000" dirty="0">
                <a:latin typeface="Calibri"/>
                <a:cs typeface="Calibri"/>
              </a:rPr>
              <a:t>learning,</a:t>
            </a:r>
            <a:r>
              <a:rPr sz="1000" spc="80" dirty="0">
                <a:latin typeface="Calibri"/>
                <a:cs typeface="Calibri"/>
              </a:rPr>
              <a:t> </a:t>
            </a:r>
            <a:r>
              <a:rPr sz="1000" dirty="0">
                <a:latin typeface="Calibri"/>
                <a:cs typeface="Calibri"/>
              </a:rPr>
              <a:t>and</a:t>
            </a:r>
            <a:r>
              <a:rPr sz="1000" spc="80" dirty="0">
                <a:latin typeface="Calibri"/>
                <a:cs typeface="Calibri"/>
              </a:rPr>
              <a:t> </a:t>
            </a:r>
            <a:r>
              <a:rPr sz="1000" dirty="0">
                <a:latin typeface="Calibri"/>
                <a:cs typeface="Calibri"/>
              </a:rPr>
              <a:t>artificial</a:t>
            </a:r>
            <a:r>
              <a:rPr sz="1000" spc="70" dirty="0">
                <a:latin typeface="Calibri"/>
                <a:cs typeface="Calibri"/>
              </a:rPr>
              <a:t> </a:t>
            </a:r>
            <a:r>
              <a:rPr sz="1000" dirty="0">
                <a:latin typeface="Calibri"/>
                <a:cs typeface="Calibri"/>
              </a:rPr>
              <a:t>intelligence</a:t>
            </a:r>
            <a:r>
              <a:rPr sz="1000" spc="100" dirty="0">
                <a:latin typeface="Calibri"/>
                <a:cs typeface="Calibri"/>
              </a:rPr>
              <a:t> </a:t>
            </a:r>
            <a:r>
              <a:rPr sz="1000" dirty="0">
                <a:latin typeface="Calibri"/>
                <a:cs typeface="Calibri"/>
              </a:rPr>
              <a:t>in</a:t>
            </a:r>
            <a:r>
              <a:rPr sz="1000" spc="80" dirty="0">
                <a:latin typeface="Calibri"/>
                <a:cs typeface="Calibri"/>
              </a:rPr>
              <a:t> </a:t>
            </a:r>
            <a:r>
              <a:rPr sz="1000" dirty="0">
                <a:latin typeface="Calibri"/>
                <a:cs typeface="Calibri"/>
              </a:rPr>
              <a:t>next-generation</a:t>
            </a:r>
            <a:r>
              <a:rPr sz="1000" spc="105" dirty="0">
                <a:latin typeface="Calibri"/>
                <a:cs typeface="Calibri"/>
              </a:rPr>
              <a:t> </a:t>
            </a:r>
            <a:r>
              <a:rPr sz="1000" dirty="0">
                <a:latin typeface="Calibri"/>
                <a:cs typeface="Calibri"/>
              </a:rPr>
              <a:t>wireless</a:t>
            </a:r>
            <a:r>
              <a:rPr sz="1000" spc="80" dirty="0">
                <a:latin typeface="Calibri"/>
                <a:cs typeface="Calibri"/>
              </a:rPr>
              <a:t> </a:t>
            </a:r>
            <a:r>
              <a:rPr sz="1000" dirty="0">
                <a:latin typeface="Calibri"/>
                <a:cs typeface="Calibri"/>
              </a:rPr>
              <a:t>networks.</a:t>
            </a:r>
            <a:r>
              <a:rPr sz="1000" spc="100" dirty="0">
                <a:latin typeface="Calibri"/>
                <a:cs typeface="Calibri"/>
              </a:rPr>
              <a:t> </a:t>
            </a:r>
            <a:r>
              <a:rPr sz="1000" i="1" dirty="0">
                <a:latin typeface="Arial"/>
                <a:cs typeface="Arial"/>
              </a:rPr>
              <a:t>IEEE</a:t>
            </a:r>
            <a:r>
              <a:rPr sz="1000" i="1" spc="95" dirty="0">
                <a:latin typeface="Arial"/>
                <a:cs typeface="Arial"/>
              </a:rPr>
              <a:t> </a:t>
            </a:r>
            <a:r>
              <a:rPr sz="1000" i="1" dirty="0">
                <a:latin typeface="Arial"/>
                <a:cs typeface="Arial"/>
              </a:rPr>
              <a:t>access</a:t>
            </a:r>
            <a:r>
              <a:rPr sz="1000" dirty="0">
                <a:latin typeface="Calibri"/>
                <a:cs typeface="Calibri"/>
              </a:rPr>
              <a:t>,</a:t>
            </a:r>
            <a:r>
              <a:rPr sz="1000" spc="140" dirty="0">
                <a:latin typeface="Calibri"/>
                <a:cs typeface="Calibri"/>
              </a:rPr>
              <a:t> </a:t>
            </a:r>
            <a:r>
              <a:rPr sz="1000" dirty="0">
                <a:latin typeface="Calibri"/>
                <a:cs typeface="Calibri"/>
              </a:rPr>
              <a:t>6:32328–32338,</a:t>
            </a:r>
            <a:r>
              <a:rPr sz="1000" spc="65" dirty="0">
                <a:latin typeface="Calibri"/>
                <a:cs typeface="Calibri"/>
              </a:rPr>
              <a:t> </a:t>
            </a:r>
            <a:r>
              <a:rPr sz="1000" spc="-10" dirty="0">
                <a:latin typeface="Calibri"/>
                <a:cs typeface="Calibri"/>
              </a:rPr>
              <a:t>2018.</a:t>
            </a:r>
            <a:endParaRPr sz="1000" dirty="0">
              <a:latin typeface="Calibri"/>
              <a:cs typeface="Calibri"/>
            </a:endParaRPr>
          </a:p>
          <a:p>
            <a:pPr marL="12700" marR="5080" indent="98425">
              <a:lnSpc>
                <a:spcPct val="103600"/>
              </a:lnSpc>
              <a:spcBef>
                <a:spcPts val="645"/>
              </a:spcBef>
              <a:buSzPct val="90000"/>
              <a:buAutoNum type="arabicPeriod" startAt="3"/>
              <a:tabLst>
                <a:tab pos="111125" algn="l"/>
                <a:tab pos="6089650" algn="l"/>
              </a:tabLst>
            </a:pPr>
            <a:r>
              <a:rPr sz="1000" dirty="0">
                <a:latin typeface="Calibri"/>
                <a:cs typeface="Calibri"/>
              </a:rPr>
              <a:t>Felix</a:t>
            </a:r>
            <a:r>
              <a:rPr sz="1000" spc="90" dirty="0">
                <a:latin typeface="Calibri"/>
                <a:cs typeface="Calibri"/>
              </a:rPr>
              <a:t> </a:t>
            </a:r>
            <a:r>
              <a:rPr sz="1000" dirty="0">
                <a:latin typeface="Calibri"/>
                <a:cs typeface="Calibri"/>
              </a:rPr>
              <a:t>Antonio</a:t>
            </a:r>
            <a:r>
              <a:rPr sz="1000" spc="85" dirty="0">
                <a:latin typeface="Calibri"/>
                <a:cs typeface="Calibri"/>
              </a:rPr>
              <a:t> </a:t>
            </a:r>
            <a:r>
              <a:rPr sz="1000" dirty="0">
                <a:latin typeface="Calibri"/>
                <a:cs typeface="Calibri"/>
              </a:rPr>
              <a:t>Rego</a:t>
            </a:r>
            <a:r>
              <a:rPr sz="1000" spc="100" dirty="0">
                <a:latin typeface="Calibri"/>
                <a:cs typeface="Calibri"/>
              </a:rPr>
              <a:t> </a:t>
            </a:r>
            <a:r>
              <a:rPr sz="1000" dirty="0">
                <a:latin typeface="Calibri"/>
                <a:cs typeface="Calibri"/>
              </a:rPr>
              <a:t>Rodríguez,</a:t>
            </a:r>
            <a:r>
              <a:rPr sz="1000" spc="100" dirty="0">
                <a:latin typeface="Calibri"/>
                <a:cs typeface="Calibri"/>
              </a:rPr>
              <a:t> </a:t>
            </a:r>
            <a:r>
              <a:rPr sz="1000" dirty="0">
                <a:latin typeface="Calibri"/>
                <a:cs typeface="Calibri"/>
              </a:rPr>
              <a:t>Lucía</a:t>
            </a:r>
            <a:r>
              <a:rPr sz="1000" spc="85" dirty="0">
                <a:latin typeface="Calibri"/>
                <a:cs typeface="Calibri"/>
              </a:rPr>
              <a:t> </a:t>
            </a:r>
            <a:r>
              <a:rPr sz="1000" dirty="0">
                <a:latin typeface="Calibri"/>
                <a:cs typeface="Calibri"/>
              </a:rPr>
              <a:t>Germán</a:t>
            </a:r>
            <a:r>
              <a:rPr sz="1000" spc="90" dirty="0">
                <a:latin typeface="Calibri"/>
                <a:cs typeface="Calibri"/>
              </a:rPr>
              <a:t> </a:t>
            </a:r>
            <a:r>
              <a:rPr sz="1000" dirty="0">
                <a:latin typeface="Calibri"/>
                <a:cs typeface="Calibri"/>
              </a:rPr>
              <a:t>Flores,</a:t>
            </a:r>
            <a:r>
              <a:rPr sz="1000" spc="85" dirty="0">
                <a:latin typeface="Calibri"/>
                <a:cs typeface="Calibri"/>
              </a:rPr>
              <a:t> </a:t>
            </a:r>
            <a:r>
              <a:rPr sz="1000" dirty="0">
                <a:latin typeface="Calibri"/>
                <a:cs typeface="Calibri"/>
              </a:rPr>
              <a:t>and</a:t>
            </a:r>
            <a:r>
              <a:rPr sz="1000" spc="95" dirty="0">
                <a:latin typeface="Calibri"/>
                <a:cs typeface="Calibri"/>
              </a:rPr>
              <a:t> </a:t>
            </a:r>
            <a:r>
              <a:rPr sz="1000" dirty="0">
                <a:latin typeface="Calibri"/>
                <a:cs typeface="Calibri"/>
              </a:rPr>
              <a:t>AdriánAlejandro</a:t>
            </a:r>
            <a:r>
              <a:rPr sz="1000" spc="75" dirty="0">
                <a:latin typeface="Calibri"/>
                <a:cs typeface="Calibri"/>
              </a:rPr>
              <a:t> </a:t>
            </a:r>
            <a:r>
              <a:rPr sz="1000" dirty="0">
                <a:latin typeface="Calibri"/>
                <a:cs typeface="Calibri"/>
              </a:rPr>
              <a:t>Vitón-Castillo.</a:t>
            </a:r>
            <a:r>
              <a:rPr sz="1000" spc="80" dirty="0">
                <a:latin typeface="Calibri"/>
                <a:cs typeface="Calibri"/>
              </a:rPr>
              <a:t> </a:t>
            </a:r>
            <a:r>
              <a:rPr sz="1000" dirty="0">
                <a:latin typeface="Calibri"/>
                <a:cs typeface="Calibri"/>
              </a:rPr>
              <a:t>Artificial</a:t>
            </a:r>
            <a:r>
              <a:rPr sz="1000" spc="75" dirty="0">
                <a:latin typeface="Calibri"/>
                <a:cs typeface="Calibri"/>
              </a:rPr>
              <a:t> </a:t>
            </a:r>
            <a:r>
              <a:rPr sz="1000" spc="-10" dirty="0">
                <a:latin typeface="Calibri"/>
                <a:cs typeface="Calibri"/>
              </a:rPr>
              <a:t>intelligence</a:t>
            </a:r>
            <a:r>
              <a:rPr sz="1000" dirty="0">
                <a:latin typeface="Calibri"/>
                <a:cs typeface="Calibri"/>
              </a:rPr>
              <a:t>	and</a:t>
            </a:r>
            <a:r>
              <a:rPr sz="1000" spc="35" dirty="0">
                <a:latin typeface="Calibri"/>
                <a:cs typeface="Calibri"/>
              </a:rPr>
              <a:t> </a:t>
            </a:r>
            <a:r>
              <a:rPr sz="1000" spc="-10" dirty="0">
                <a:latin typeface="Calibri"/>
                <a:cs typeface="Calibri"/>
              </a:rPr>
              <a:t>machine </a:t>
            </a:r>
            <a:r>
              <a:rPr sz="1000" dirty="0">
                <a:latin typeface="Calibri"/>
                <a:cs typeface="Calibri"/>
              </a:rPr>
              <a:t>learning:</a:t>
            </a:r>
            <a:r>
              <a:rPr sz="1000" spc="345" dirty="0">
                <a:latin typeface="Calibri"/>
                <a:cs typeface="Calibri"/>
              </a:rPr>
              <a:t> </a:t>
            </a:r>
            <a:r>
              <a:rPr sz="1000" dirty="0">
                <a:latin typeface="Calibri"/>
                <a:cs typeface="Calibri"/>
              </a:rPr>
              <a:t>present</a:t>
            </a:r>
            <a:r>
              <a:rPr sz="1000" spc="70" dirty="0">
                <a:latin typeface="Calibri"/>
                <a:cs typeface="Calibri"/>
              </a:rPr>
              <a:t> </a:t>
            </a:r>
            <a:r>
              <a:rPr sz="1000" dirty="0">
                <a:latin typeface="Calibri"/>
                <a:cs typeface="Calibri"/>
              </a:rPr>
              <a:t>and</a:t>
            </a:r>
            <a:r>
              <a:rPr sz="1000" spc="65" dirty="0">
                <a:latin typeface="Calibri"/>
                <a:cs typeface="Calibri"/>
              </a:rPr>
              <a:t> </a:t>
            </a:r>
            <a:r>
              <a:rPr sz="1000" dirty="0">
                <a:latin typeface="Calibri"/>
                <a:cs typeface="Calibri"/>
              </a:rPr>
              <a:t>future</a:t>
            </a:r>
            <a:r>
              <a:rPr sz="1000" spc="65" dirty="0">
                <a:latin typeface="Calibri"/>
                <a:cs typeface="Calibri"/>
              </a:rPr>
              <a:t> </a:t>
            </a:r>
            <a:r>
              <a:rPr sz="1000" dirty="0">
                <a:latin typeface="Calibri"/>
                <a:cs typeface="Calibri"/>
              </a:rPr>
              <a:t>applications</a:t>
            </a:r>
            <a:r>
              <a:rPr sz="1000" spc="60" dirty="0">
                <a:latin typeface="Calibri"/>
                <a:cs typeface="Calibri"/>
              </a:rPr>
              <a:t> </a:t>
            </a:r>
            <a:r>
              <a:rPr sz="1000" dirty="0">
                <a:latin typeface="Calibri"/>
                <a:cs typeface="Calibri"/>
              </a:rPr>
              <a:t>in</a:t>
            </a:r>
            <a:r>
              <a:rPr sz="1000" spc="65" dirty="0">
                <a:latin typeface="Calibri"/>
                <a:cs typeface="Calibri"/>
              </a:rPr>
              <a:t> </a:t>
            </a:r>
            <a:r>
              <a:rPr sz="1000" dirty="0">
                <a:latin typeface="Calibri"/>
                <a:cs typeface="Calibri"/>
              </a:rPr>
              <a:t>health</a:t>
            </a:r>
            <a:r>
              <a:rPr sz="1000" spc="65" dirty="0">
                <a:latin typeface="Calibri"/>
                <a:cs typeface="Calibri"/>
              </a:rPr>
              <a:t> </a:t>
            </a:r>
            <a:r>
              <a:rPr sz="1000" dirty="0">
                <a:latin typeface="Calibri"/>
                <a:cs typeface="Calibri"/>
              </a:rPr>
              <a:t>sciences.</a:t>
            </a:r>
            <a:r>
              <a:rPr sz="1000" spc="70" dirty="0">
                <a:latin typeface="Calibri"/>
                <a:cs typeface="Calibri"/>
              </a:rPr>
              <a:t> </a:t>
            </a:r>
            <a:r>
              <a:rPr sz="1000" dirty="0">
                <a:latin typeface="Calibri"/>
                <a:cs typeface="Calibri"/>
              </a:rPr>
              <a:t>In</a:t>
            </a:r>
            <a:r>
              <a:rPr sz="1000" spc="65" dirty="0">
                <a:latin typeface="Calibri"/>
                <a:cs typeface="Calibri"/>
              </a:rPr>
              <a:t> </a:t>
            </a:r>
            <a:r>
              <a:rPr sz="1000" i="1" dirty="0">
                <a:latin typeface="Arial"/>
                <a:cs typeface="Arial"/>
              </a:rPr>
              <a:t>Seminars</a:t>
            </a:r>
            <a:r>
              <a:rPr sz="1000" i="1" spc="95" dirty="0">
                <a:latin typeface="Arial"/>
                <a:cs typeface="Arial"/>
              </a:rPr>
              <a:t> </a:t>
            </a:r>
            <a:r>
              <a:rPr sz="1000" i="1" dirty="0">
                <a:latin typeface="Arial"/>
                <a:cs typeface="Arial"/>
              </a:rPr>
              <a:t>in</a:t>
            </a:r>
            <a:r>
              <a:rPr sz="1000" i="1" spc="85" dirty="0">
                <a:latin typeface="Arial"/>
                <a:cs typeface="Arial"/>
              </a:rPr>
              <a:t> </a:t>
            </a:r>
            <a:r>
              <a:rPr sz="1000" i="1" dirty="0">
                <a:latin typeface="Arial"/>
                <a:cs typeface="Arial"/>
              </a:rPr>
              <a:t>Medical</a:t>
            </a:r>
            <a:r>
              <a:rPr sz="1000" i="1" spc="80" dirty="0">
                <a:latin typeface="Arial"/>
                <a:cs typeface="Arial"/>
              </a:rPr>
              <a:t> </a:t>
            </a:r>
            <a:r>
              <a:rPr sz="1000" i="1" dirty="0">
                <a:latin typeface="Arial"/>
                <a:cs typeface="Arial"/>
              </a:rPr>
              <a:t>Writing</a:t>
            </a:r>
            <a:r>
              <a:rPr sz="1000" i="1" spc="75" dirty="0">
                <a:latin typeface="Arial"/>
                <a:cs typeface="Arial"/>
              </a:rPr>
              <a:t> </a:t>
            </a:r>
            <a:r>
              <a:rPr sz="1000" i="1" dirty="0">
                <a:latin typeface="Arial"/>
                <a:cs typeface="Arial"/>
              </a:rPr>
              <a:t>and</a:t>
            </a:r>
            <a:r>
              <a:rPr sz="1000" i="1" spc="105" dirty="0">
                <a:latin typeface="Arial"/>
                <a:cs typeface="Arial"/>
              </a:rPr>
              <a:t> </a:t>
            </a:r>
            <a:r>
              <a:rPr sz="1000" i="1" dirty="0">
                <a:latin typeface="Arial"/>
                <a:cs typeface="Arial"/>
              </a:rPr>
              <a:t>Education</a:t>
            </a:r>
            <a:r>
              <a:rPr sz="1000" dirty="0">
                <a:latin typeface="Calibri"/>
                <a:cs typeface="Calibri"/>
              </a:rPr>
              <a:t>,</a:t>
            </a:r>
            <a:r>
              <a:rPr sz="1000" spc="70" dirty="0">
                <a:latin typeface="Calibri"/>
                <a:cs typeface="Calibri"/>
              </a:rPr>
              <a:t> </a:t>
            </a:r>
            <a:r>
              <a:rPr sz="1000" dirty="0">
                <a:latin typeface="Calibri"/>
                <a:cs typeface="Calibri"/>
              </a:rPr>
              <a:t>volume</a:t>
            </a:r>
            <a:r>
              <a:rPr sz="1000" spc="65" dirty="0">
                <a:latin typeface="Calibri"/>
                <a:cs typeface="Calibri"/>
              </a:rPr>
              <a:t> </a:t>
            </a:r>
            <a:r>
              <a:rPr sz="1000" spc="-25" dirty="0">
                <a:latin typeface="Calibri"/>
                <a:cs typeface="Calibri"/>
              </a:rPr>
              <a:t>1,</a:t>
            </a:r>
            <a:r>
              <a:rPr sz="1000" spc="500" dirty="0">
                <a:latin typeface="Calibri"/>
                <a:cs typeface="Calibri"/>
              </a:rPr>
              <a:t>  </a:t>
            </a:r>
            <a:r>
              <a:rPr sz="1000" dirty="0">
                <a:latin typeface="Calibri"/>
                <a:cs typeface="Calibri"/>
              </a:rPr>
              <a:t>pages</a:t>
            </a:r>
            <a:r>
              <a:rPr sz="1000" spc="50" dirty="0">
                <a:latin typeface="Calibri"/>
                <a:cs typeface="Calibri"/>
              </a:rPr>
              <a:t> </a:t>
            </a:r>
            <a:r>
              <a:rPr sz="1000" dirty="0">
                <a:latin typeface="Calibri"/>
                <a:cs typeface="Calibri"/>
              </a:rPr>
              <a:t>9–9,</a:t>
            </a:r>
            <a:r>
              <a:rPr sz="1000" spc="50" dirty="0">
                <a:latin typeface="Calibri"/>
                <a:cs typeface="Calibri"/>
              </a:rPr>
              <a:t> </a:t>
            </a:r>
            <a:r>
              <a:rPr sz="1000" spc="-20" dirty="0">
                <a:latin typeface="Calibri"/>
                <a:cs typeface="Calibri"/>
              </a:rPr>
              <a:t>2022.</a:t>
            </a:r>
            <a:endParaRPr sz="1000" dirty="0">
              <a:latin typeface="Calibri"/>
              <a:cs typeface="Calibri"/>
            </a:endParaRPr>
          </a:p>
          <a:p>
            <a:pPr marL="111125" indent="-98425">
              <a:lnSpc>
                <a:spcPct val="100000"/>
              </a:lnSpc>
              <a:spcBef>
                <a:spcPts val="40"/>
              </a:spcBef>
              <a:buSzPct val="90000"/>
              <a:buAutoNum type="arabicPeriod" startAt="3"/>
              <a:tabLst>
                <a:tab pos="111125" algn="l"/>
                <a:tab pos="6392545" algn="l"/>
              </a:tabLst>
            </a:pPr>
            <a:r>
              <a:rPr sz="1000" dirty="0">
                <a:latin typeface="Calibri"/>
                <a:cs typeface="Calibri"/>
              </a:rPr>
              <a:t>Claude</a:t>
            </a:r>
            <a:r>
              <a:rPr sz="1000" spc="55" dirty="0">
                <a:latin typeface="Calibri"/>
                <a:cs typeface="Calibri"/>
              </a:rPr>
              <a:t> </a:t>
            </a:r>
            <a:r>
              <a:rPr sz="1000" dirty="0">
                <a:latin typeface="Calibri"/>
                <a:cs typeface="Calibri"/>
              </a:rPr>
              <a:t>E.</a:t>
            </a:r>
            <a:r>
              <a:rPr sz="1000" spc="65" dirty="0">
                <a:latin typeface="Calibri"/>
                <a:cs typeface="Calibri"/>
              </a:rPr>
              <a:t> </a:t>
            </a:r>
            <a:r>
              <a:rPr sz="1000" dirty="0">
                <a:latin typeface="Calibri"/>
                <a:cs typeface="Calibri"/>
              </a:rPr>
              <a:t>Shannon.</a:t>
            </a:r>
            <a:r>
              <a:rPr sz="1000" spc="65" dirty="0">
                <a:latin typeface="Calibri"/>
                <a:cs typeface="Calibri"/>
              </a:rPr>
              <a:t> </a:t>
            </a:r>
            <a:r>
              <a:rPr sz="1000" dirty="0">
                <a:latin typeface="Calibri"/>
                <a:cs typeface="Calibri"/>
              </a:rPr>
              <a:t>A</a:t>
            </a:r>
            <a:r>
              <a:rPr sz="1000" spc="65" dirty="0">
                <a:latin typeface="Calibri"/>
                <a:cs typeface="Calibri"/>
              </a:rPr>
              <a:t> </a:t>
            </a:r>
            <a:r>
              <a:rPr sz="1000" dirty="0">
                <a:latin typeface="Calibri"/>
                <a:cs typeface="Calibri"/>
              </a:rPr>
              <a:t>mathematical</a:t>
            </a:r>
            <a:r>
              <a:rPr sz="1000" spc="80" dirty="0">
                <a:latin typeface="Calibri"/>
                <a:cs typeface="Calibri"/>
              </a:rPr>
              <a:t> </a:t>
            </a:r>
            <a:r>
              <a:rPr sz="1000" dirty="0">
                <a:latin typeface="Calibri"/>
                <a:cs typeface="Calibri"/>
              </a:rPr>
              <a:t>theory</a:t>
            </a:r>
            <a:r>
              <a:rPr sz="1000" spc="75" dirty="0">
                <a:latin typeface="Calibri"/>
                <a:cs typeface="Calibri"/>
              </a:rPr>
              <a:t> </a:t>
            </a:r>
            <a:r>
              <a:rPr sz="1000" dirty="0">
                <a:latin typeface="Calibri"/>
                <a:cs typeface="Calibri"/>
              </a:rPr>
              <a:t>of</a:t>
            </a:r>
            <a:r>
              <a:rPr sz="1000" spc="75" dirty="0">
                <a:latin typeface="Calibri"/>
                <a:cs typeface="Calibri"/>
              </a:rPr>
              <a:t> </a:t>
            </a:r>
            <a:r>
              <a:rPr sz="1000" dirty="0">
                <a:latin typeface="Calibri"/>
                <a:cs typeface="Calibri"/>
              </a:rPr>
              <a:t>communication.</a:t>
            </a:r>
            <a:r>
              <a:rPr sz="1000" spc="80" dirty="0">
                <a:latin typeface="Calibri"/>
                <a:cs typeface="Calibri"/>
              </a:rPr>
              <a:t> </a:t>
            </a:r>
            <a:r>
              <a:rPr sz="1000" i="1" dirty="0">
                <a:latin typeface="Arial"/>
                <a:cs typeface="Arial"/>
              </a:rPr>
              <a:t>Bell</a:t>
            </a:r>
            <a:r>
              <a:rPr sz="1000" i="1" spc="80" dirty="0">
                <a:latin typeface="Arial"/>
                <a:cs typeface="Arial"/>
              </a:rPr>
              <a:t> </a:t>
            </a:r>
            <a:r>
              <a:rPr sz="1000" i="1" dirty="0">
                <a:latin typeface="Arial"/>
                <a:cs typeface="Arial"/>
              </a:rPr>
              <a:t>System</a:t>
            </a:r>
            <a:r>
              <a:rPr sz="1000" i="1" spc="80" dirty="0">
                <a:latin typeface="Arial"/>
                <a:cs typeface="Arial"/>
              </a:rPr>
              <a:t> </a:t>
            </a:r>
            <a:r>
              <a:rPr sz="1000" i="1" dirty="0">
                <a:latin typeface="Arial"/>
                <a:cs typeface="Arial"/>
              </a:rPr>
              <a:t>Technical</a:t>
            </a:r>
            <a:r>
              <a:rPr sz="1000" i="1" spc="75" dirty="0">
                <a:latin typeface="Arial"/>
                <a:cs typeface="Arial"/>
              </a:rPr>
              <a:t> </a:t>
            </a:r>
            <a:r>
              <a:rPr sz="1000" i="1" dirty="0">
                <a:latin typeface="Arial"/>
                <a:cs typeface="Arial"/>
              </a:rPr>
              <a:t>Journal</a:t>
            </a:r>
            <a:r>
              <a:rPr sz="1000" dirty="0">
                <a:latin typeface="Calibri"/>
                <a:cs typeface="Calibri"/>
              </a:rPr>
              <a:t>,</a:t>
            </a:r>
            <a:r>
              <a:rPr sz="1000" spc="70" dirty="0">
                <a:latin typeface="Calibri"/>
                <a:cs typeface="Calibri"/>
              </a:rPr>
              <a:t> </a:t>
            </a:r>
            <a:r>
              <a:rPr sz="1000" spc="-10" dirty="0">
                <a:latin typeface="Calibri"/>
                <a:cs typeface="Calibri"/>
              </a:rPr>
              <a:t>27(3):379–423,</a:t>
            </a:r>
            <a:r>
              <a:rPr sz="1000" dirty="0">
                <a:latin typeface="Calibri"/>
                <a:cs typeface="Calibri"/>
              </a:rPr>
              <a:t>	</a:t>
            </a:r>
            <a:r>
              <a:rPr sz="1000" spc="-10" dirty="0">
                <a:latin typeface="Calibri"/>
                <a:cs typeface="Calibri"/>
              </a:rPr>
              <a:t>1948.</a:t>
            </a:r>
            <a:endParaRPr sz="1000" dirty="0">
              <a:latin typeface="Calibri"/>
              <a:cs typeface="Calibri"/>
            </a:endParaRPr>
          </a:p>
        </p:txBody>
      </p:sp>
      <p:pic>
        <p:nvPicPr>
          <p:cNvPr id="31" name="object 31"/>
          <p:cNvPicPr/>
          <p:nvPr/>
        </p:nvPicPr>
        <p:blipFill>
          <a:blip r:embed="rId4" cstate="print"/>
          <a:stretch>
            <a:fillRect/>
          </a:stretch>
        </p:blipFill>
        <p:spPr>
          <a:xfrm>
            <a:off x="12463395" y="632908"/>
            <a:ext cx="1728322" cy="900674"/>
          </a:xfrm>
          <a:prstGeom prst="rect">
            <a:avLst/>
          </a:prstGeom>
        </p:spPr>
      </p:pic>
      <p:sp>
        <p:nvSpPr>
          <p:cNvPr id="32" name="object 32"/>
          <p:cNvSpPr txBox="1"/>
          <p:nvPr/>
        </p:nvSpPr>
        <p:spPr>
          <a:xfrm>
            <a:off x="3316206" y="19699484"/>
            <a:ext cx="6539230" cy="255270"/>
          </a:xfrm>
          <a:prstGeom prst="rect">
            <a:avLst/>
          </a:prstGeom>
        </p:spPr>
        <p:txBody>
          <a:bodyPr vert="horz" wrap="square" lIns="0" tIns="13335" rIns="0" bIns="0" rtlCol="0">
            <a:spAutoFit/>
          </a:bodyPr>
          <a:lstStyle/>
          <a:p>
            <a:pPr marL="12700">
              <a:lnSpc>
                <a:spcPct val="100000"/>
              </a:lnSpc>
              <a:spcBef>
                <a:spcPts val="105"/>
              </a:spcBef>
            </a:pPr>
            <a:r>
              <a:rPr sz="1500" b="1" spc="-45" dirty="0">
                <a:solidFill>
                  <a:srgbClr val="FFFFFF"/>
                </a:solidFill>
                <a:latin typeface="Tahoma"/>
                <a:cs typeface="Tahoma"/>
              </a:rPr>
              <a:t>Department</a:t>
            </a:r>
            <a:r>
              <a:rPr sz="1500" b="1" spc="-65" dirty="0">
                <a:solidFill>
                  <a:srgbClr val="FFFFFF"/>
                </a:solidFill>
                <a:latin typeface="Tahoma"/>
                <a:cs typeface="Tahoma"/>
              </a:rPr>
              <a:t> </a:t>
            </a:r>
            <a:r>
              <a:rPr sz="1500" b="1" spc="-35" dirty="0">
                <a:solidFill>
                  <a:srgbClr val="FFFFFF"/>
                </a:solidFill>
                <a:latin typeface="Tahoma"/>
                <a:cs typeface="Tahoma"/>
              </a:rPr>
              <a:t>of</a:t>
            </a:r>
            <a:r>
              <a:rPr sz="1500" b="1" spc="-75" dirty="0">
                <a:solidFill>
                  <a:srgbClr val="FFFFFF"/>
                </a:solidFill>
                <a:latin typeface="Tahoma"/>
                <a:cs typeface="Tahoma"/>
              </a:rPr>
              <a:t> </a:t>
            </a:r>
            <a:r>
              <a:rPr sz="1500" b="1" spc="-10" dirty="0">
                <a:solidFill>
                  <a:srgbClr val="FFFFFF"/>
                </a:solidFill>
                <a:latin typeface="Tahoma"/>
                <a:cs typeface="Tahoma"/>
              </a:rPr>
              <a:t>Computer</a:t>
            </a:r>
            <a:r>
              <a:rPr sz="1500" b="1" spc="-100" dirty="0">
                <a:solidFill>
                  <a:srgbClr val="FFFFFF"/>
                </a:solidFill>
                <a:latin typeface="Tahoma"/>
                <a:cs typeface="Tahoma"/>
              </a:rPr>
              <a:t> </a:t>
            </a:r>
            <a:r>
              <a:rPr sz="1500" b="1" spc="-20" dirty="0">
                <a:solidFill>
                  <a:srgbClr val="FFFFFF"/>
                </a:solidFill>
                <a:latin typeface="Tahoma"/>
                <a:cs typeface="Tahoma"/>
              </a:rPr>
              <a:t>Engineering</a:t>
            </a:r>
            <a:r>
              <a:rPr sz="1500" b="1" spc="280" dirty="0">
                <a:solidFill>
                  <a:srgbClr val="FFFFFF"/>
                </a:solidFill>
                <a:latin typeface="Tahoma"/>
                <a:cs typeface="Tahoma"/>
              </a:rPr>
              <a:t> </a:t>
            </a:r>
            <a:r>
              <a:rPr sz="1500" b="1" spc="-20" dirty="0">
                <a:solidFill>
                  <a:srgbClr val="FFFFFF"/>
                </a:solidFill>
                <a:latin typeface="Tahoma"/>
                <a:cs typeface="Tahoma"/>
              </a:rPr>
              <a:t>Technology</a:t>
            </a:r>
            <a:r>
              <a:rPr sz="1500" b="1" spc="-75" dirty="0">
                <a:solidFill>
                  <a:srgbClr val="FFFFFF"/>
                </a:solidFill>
                <a:latin typeface="Tahoma"/>
                <a:cs typeface="Tahoma"/>
              </a:rPr>
              <a:t> </a:t>
            </a:r>
            <a:r>
              <a:rPr sz="1500" b="1" spc="-10" dirty="0">
                <a:solidFill>
                  <a:srgbClr val="FFFFFF"/>
                </a:solidFill>
                <a:latin typeface="Tahoma"/>
                <a:cs typeface="Tahoma"/>
              </a:rPr>
              <a:t>Week</a:t>
            </a:r>
            <a:r>
              <a:rPr sz="1500" b="1" spc="-70" dirty="0">
                <a:solidFill>
                  <a:srgbClr val="FFFFFF"/>
                </a:solidFill>
                <a:latin typeface="Tahoma"/>
                <a:cs typeface="Tahoma"/>
              </a:rPr>
              <a:t> </a:t>
            </a:r>
            <a:r>
              <a:rPr sz="1500" b="1" dirty="0">
                <a:solidFill>
                  <a:srgbClr val="FFFFFF"/>
                </a:solidFill>
                <a:latin typeface="Tahoma"/>
                <a:cs typeface="Tahoma"/>
              </a:rPr>
              <a:t>-</a:t>
            </a:r>
            <a:r>
              <a:rPr sz="1500" b="1" spc="-70" dirty="0">
                <a:solidFill>
                  <a:srgbClr val="FFFFFF"/>
                </a:solidFill>
                <a:latin typeface="Tahoma"/>
                <a:cs typeface="Tahoma"/>
              </a:rPr>
              <a:t> </a:t>
            </a:r>
            <a:r>
              <a:rPr sz="1500" b="1" spc="-75" dirty="0">
                <a:solidFill>
                  <a:srgbClr val="FFFFFF"/>
                </a:solidFill>
                <a:latin typeface="Tahoma"/>
                <a:cs typeface="Tahoma"/>
              </a:rPr>
              <a:t>TWeek</a:t>
            </a:r>
            <a:r>
              <a:rPr sz="1500" b="1" spc="-35" dirty="0">
                <a:solidFill>
                  <a:srgbClr val="FFFFFF"/>
                </a:solidFill>
                <a:latin typeface="Tahoma"/>
                <a:cs typeface="Tahoma"/>
              </a:rPr>
              <a:t> </a:t>
            </a:r>
            <a:r>
              <a:rPr sz="1500" b="1" spc="-20" dirty="0">
                <a:solidFill>
                  <a:srgbClr val="FFFFFF"/>
                </a:solidFill>
                <a:latin typeface="Tahoma"/>
                <a:cs typeface="Tahoma"/>
              </a:rPr>
              <a:t>2024</a:t>
            </a:r>
            <a:endParaRPr sz="1500">
              <a:latin typeface="Tahoma"/>
              <a:cs typeface="Tahoma"/>
            </a:endParaRPr>
          </a:p>
        </p:txBody>
      </p:sp>
      <p:sp>
        <p:nvSpPr>
          <p:cNvPr id="33" name="object 33"/>
          <p:cNvSpPr txBox="1"/>
          <p:nvPr/>
        </p:nvSpPr>
        <p:spPr>
          <a:xfrm>
            <a:off x="30257" y="19736141"/>
            <a:ext cx="2430145" cy="226060"/>
          </a:xfrm>
          <a:prstGeom prst="rect">
            <a:avLst/>
          </a:prstGeom>
        </p:spPr>
        <p:txBody>
          <a:bodyPr vert="horz" wrap="square" lIns="0" tIns="13970" rIns="0" bIns="0" rtlCol="0">
            <a:spAutoFit/>
          </a:bodyPr>
          <a:lstStyle/>
          <a:p>
            <a:pPr marL="12700">
              <a:lnSpc>
                <a:spcPct val="100000"/>
              </a:lnSpc>
              <a:spcBef>
                <a:spcPts val="110"/>
              </a:spcBef>
            </a:pPr>
            <a:r>
              <a:rPr sz="1300" b="1" spc="-30" dirty="0">
                <a:solidFill>
                  <a:srgbClr val="FFFFFF"/>
                </a:solidFill>
                <a:latin typeface="Tahoma"/>
                <a:cs typeface="Tahoma"/>
              </a:rPr>
              <a:t>mail:</a:t>
            </a:r>
            <a:r>
              <a:rPr sz="1300" b="1" spc="-50" dirty="0">
                <a:solidFill>
                  <a:srgbClr val="FFFFFF"/>
                </a:solidFill>
                <a:latin typeface="Tahoma"/>
                <a:cs typeface="Tahoma"/>
              </a:rPr>
              <a:t> </a:t>
            </a:r>
            <a:r>
              <a:rPr sz="1300" b="1" spc="-10" dirty="0">
                <a:solidFill>
                  <a:srgbClr val="FFFFFF"/>
                </a:solidFill>
                <a:latin typeface="Tahoma"/>
                <a:cs typeface="Tahoma"/>
                <a:hlinkClick r:id="rId5"/>
              </a:rPr>
              <a:t>compeng@knust.edu.gh</a:t>
            </a:r>
            <a:endParaRPr sz="1300">
              <a:latin typeface="Tahoma"/>
              <a:cs typeface="Tahoma"/>
            </a:endParaRPr>
          </a:p>
        </p:txBody>
      </p:sp>
      <p:grpSp>
        <p:nvGrpSpPr>
          <p:cNvPr id="34" name="object 34"/>
          <p:cNvGrpSpPr/>
          <p:nvPr/>
        </p:nvGrpSpPr>
        <p:grpSpPr>
          <a:xfrm>
            <a:off x="11142453" y="19575000"/>
            <a:ext cx="1520825" cy="492759"/>
            <a:chOff x="11142453" y="19575000"/>
            <a:chExt cx="1520825" cy="492759"/>
          </a:xfrm>
        </p:grpSpPr>
        <p:pic>
          <p:nvPicPr>
            <p:cNvPr id="35" name="object 35"/>
            <p:cNvPicPr/>
            <p:nvPr/>
          </p:nvPicPr>
          <p:blipFill>
            <a:blip r:embed="rId6" cstate="print"/>
            <a:stretch>
              <a:fillRect/>
            </a:stretch>
          </p:blipFill>
          <p:spPr>
            <a:xfrm>
              <a:off x="12221402" y="19575000"/>
              <a:ext cx="441745" cy="451769"/>
            </a:xfrm>
            <a:prstGeom prst="rect">
              <a:avLst/>
            </a:prstGeom>
          </p:spPr>
        </p:pic>
        <p:pic>
          <p:nvPicPr>
            <p:cNvPr id="36" name="object 36"/>
            <p:cNvPicPr/>
            <p:nvPr/>
          </p:nvPicPr>
          <p:blipFill>
            <a:blip r:embed="rId7" cstate="print"/>
            <a:stretch>
              <a:fillRect/>
            </a:stretch>
          </p:blipFill>
          <p:spPr>
            <a:xfrm>
              <a:off x="11725959" y="19594337"/>
              <a:ext cx="441745" cy="441740"/>
            </a:xfrm>
            <a:prstGeom prst="rect">
              <a:avLst/>
            </a:prstGeom>
          </p:spPr>
        </p:pic>
        <p:pic>
          <p:nvPicPr>
            <p:cNvPr id="37" name="object 37"/>
            <p:cNvPicPr/>
            <p:nvPr/>
          </p:nvPicPr>
          <p:blipFill>
            <a:blip r:embed="rId8" cstate="print"/>
            <a:stretch>
              <a:fillRect/>
            </a:stretch>
          </p:blipFill>
          <p:spPr>
            <a:xfrm>
              <a:off x="11142453" y="19575004"/>
              <a:ext cx="492578" cy="492576"/>
            </a:xfrm>
            <a:prstGeom prst="rect">
              <a:avLst/>
            </a:prstGeom>
          </p:spPr>
        </p:pic>
      </p:grpSp>
      <p:sp>
        <p:nvSpPr>
          <p:cNvPr id="38" name="object 38"/>
          <p:cNvSpPr txBox="1"/>
          <p:nvPr/>
        </p:nvSpPr>
        <p:spPr>
          <a:xfrm>
            <a:off x="12753546" y="19696334"/>
            <a:ext cx="1420495" cy="255270"/>
          </a:xfrm>
          <a:prstGeom prst="rect">
            <a:avLst/>
          </a:prstGeom>
        </p:spPr>
        <p:txBody>
          <a:bodyPr vert="horz" wrap="square" lIns="0" tIns="13335" rIns="0" bIns="0" rtlCol="0">
            <a:spAutoFit/>
          </a:bodyPr>
          <a:lstStyle/>
          <a:p>
            <a:pPr marL="12700">
              <a:lnSpc>
                <a:spcPct val="100000"/>
              </a:lnSpc>
              <a:spcBef>
                <a:spcPts val="105"/>
              </a:spcBef>
            </a:pPr>
            <a:r>
              <a:rPr sz="1500" b="1" spc="-10" dirty="0">
                <a:solidFill>
                  <a:srgbClr val="FFFFFF"/>
                </a:solidFill>
                <a:latin typeface="Tahoma"/>
                <a:cs typeface="Tahoma"/>
              </a:rPr>
              <a:t>compengknust</a:t>
            </a:r>
            <a:endParaRPr sz="1500">
              <a:latin typeface="Tahoma"/>
              <a:cs typeface="Tahoma"/>
            </a:endParaRPr>
          </a:p>
        </p:txBody>
      </p:sp>
      <p:sp>
        <p:nvSpPr>
          <p:cNvPr id="40" name="TextBox 39">
            <a:extLst>
              <a:ext uri="{FF2B5EF4-FFF2-40B4-BE49-F238E27FC236}">
                <a16:creationId xmlns:a16="http://schemas.microsoft.com/office/drawing/2014/main" id="{A3B27414-01EC-4EB5-B351-4847F716DD53}"/>
              </a:ext>
            </a:extLst>
          </p:cNvPr>
          <p:cNvSpPr txBox="1"/>
          <p:nvPr/>
        </p:nvSpPr>
        <p:spPr>
          <a:xfrm>
            <a:off x="92187" y="2816640"/>
            <a:ext cx="6974636" cy="3554819"/>
          </a:xfrm>
          <a:prstGeom prst="rect">
            <a:avLst/>
          </a:prstGeom>
          <a:noFill/>
        </p:spPr>
        <p:txBody>
          <a:bodyPr wrap="square" rtlCol="0">
            <a:spAutoFit/>
          </a:bodyPr>
          <a:lstStyle/>
          <a:p>
            <a:endParaRPr lang="en-US" sz="1500" dirty="0">
              <a:latin typeface="+mj-lt"/>
            </a:endParaRPr>
          </a:p>
          <a:p>
            <a:r>
              <a:rPr lang="en-US" sz="1500" dirty="0">
                <a:latin typeface="+mj-lt"/>
              </a:rPr>
              <a:t>Unpredictable weather patterns and ineffective resource management pose problems for agricultural sustainability and productivity. </a:t>
            </a:r>
          </a:p>
          <a:p>
            <a:r>
              <a:rPr lang="en-US" sz="1500" dirty="0">
                <a:latin typeface="+mj-lt"/>
              </a:rPr>
              <a:t>By implementing sensor nodes to track soil pH, moisture, humidity, and air temperature, this project presents an Internet of Things-based agricultural monitoring system to address these problems. </a:t>
            </a:r>
          </a:p>
          <a:p>
            <a:endParaRPr lang="en-US" sz="1500" dirty="0">
              <a:latin typeface="+mj-lt"/>
            </a:endParaRPr>
          </a:p>
          <a:p>
            <a:r>
              <a:rPr lang="en-US" sz="1500" dirty="0">
                <a:latin typeface="+mj-lt"/>
              </a:rPr>
              <a:t>Farmers can receive actionable insights from the mesh network formed by the collected data, which is transmitted to Google Cloud Platform for sophisticated analytics and machine learning. </a:t>
            </a:r>
          </a:p>
          <a:p>
            <a:endParaRPr lang="en-US" sz="1500" dirty="0">
              <a:latin typeface="+mj-lt"/>
            </a:endParaRPr>
          </a:p>
          <a:p>
            <a:r>
              <a:rPr lang="en-US" sz="1500" dirty="0">
                <a:latin typeface="+mj-lt"/>
              </a:rPr>
              <a:t>Farm conditions, statistics, and alarms are available in real-time through an easy-to-use mobile app. This method, which represents important developments in precision agriculture, attempts to maximize farming operations, raise crop yields, and encourage sustainable practices.</a:t>
            </a:r>
          </a:p>
        </p:txBody>
      </p:sp>
      <p:pic>
        <p:nvPicPr>
          <p:cNvPr id="10" name="Picture 9">
            <a:extLst>
              <a:ext uri="{FF2B5EF4-FFF2-40B4-BE49-F238E27FC236}">
                <a16:creationId xmlns:a16="http://schemas.microsoft.com/office/drawing/2014/main" id="{EB9B7EE0-0B3F-4834-895F-A407A48FA509}"/>
              </a:ext>
            </a:extLst>
          </p:cNvPr>
          <p:cNvPicPr>
            <a:picLocks noChangeAspect="1"/>
          </p:cNvPicPr>
          <p:nvPr/>
        </p:nvPicPr>
        <p:blipFill rotWithShape="1">
          <a:blip r:embed="rId9">
            <a:extLst>
              <a:ext uri="{28A0092B-C50C-407E-A947-70E740481C1C}">
                <a14:useLocalDpi xmlns:a14="http://schemas.microsoft.com/office/drawing/2010/main" val="0"/>
              </a:ext>
            </a:extLst>
          </a:blip>
          <a:srcRect l="16619" t="38908" r="10980" b="13656"/>
          <a:stretch/>
        </p:blipFill>
        <p:spPr>
          <a:xfrm>
            <a:off x="323721" y="11986900"/>
            <a:ext cx="6480868" cy="2362835"/>
          </a:xfrm>
          <a:prstGeom prst="rect">
            <a:avLst/>
          </a:prstGeom>
        </p:spPr>
      </p:pic>
      <p:sp>
        <p:nvSpPr>
          <p:cNvPr id="11" name="TextBox 10">
            <a:extLst>
              <a:ext uri="{FF2B5EF4-FFF2-40B4-BE49-F238E27FC236}">
                <a16:creationId xmlns:a16="http://schemas.microsoft.com/office/drawing/2014/main" id="{B2EFD593-FF0B-4F13-B664-C285D50A2D61}"/>
              </a:ext>
            </a:extLst>
          </p:cNvPr>
          <p:cNvSpPr txBox="1"/>
          <p:nvPr/>
        </p:nvSpPr>
        <p:spPr>
          <a:xfrm>
            <a:off x="356766" y="6648289"/>
            <a:ext cx="6548665" cy="1246495"/>
          </a:xfrm>
          <a:prstGeom prst="rect">
            <a:avLst/>
          </a:prstGeom>
          <a:noFill/>
        </p:spPr>
        <p:txBody>
          <a:bodyPr wrap="square" rtlCol="0">
            <a:spAutoFit/>
          </a:bodyPr>
          <a:lstStyle/>
          <a:p>
            <a:r>
              <a:rPr lang="en-US" sz="1500" dirty="0">
                <a:latin typeface="+mj-lt"/>
              </a:rPr>
              <a:t>Through the use of advanced analytics and the monitoring of important environmental factors, this study seeks to increase agricultural sustainability and productivity by implementing an Internet of Things-based farm monitoring system.</a:t>
            </a:r>
          </a:p>
          <a:p>
            <a:r>
              <a:rPr lang="en-US" sz="1500" dirty="0">
                <a:latin typeface="+mj-lt"/>
              </a:rPr>
              <a:t>	</a:t>
            </a:r>
          </a:p>
        </p:txBody>
      </p:sp>
      <p:pic>
        <p:nvPicPr>
          <p:cNvPr id="39" name="Picture 38">
            <a:extLst>
              <a:ext uri="{FF2B5EF4-FFF2-40B4-BE49-F238E27FC236}">
                <a16:creationId xmlns:a16="http://schemas.microsoft.com/office/drawing/2014/main" id="{DE1CEC08-95F5-4F53-9D74-1B9E68F52A4C}"/>
              </a:ext>
            </a:extLst>
          </p:cNvPr>
          <p:cNvPicPr>
            <a:picLocks noChangeAspect="1"/>
          </p:cNvPicPr>
          <p:nvPr/>
        </p:nvPicPr>
        <p:blipFill rotWithShape="1">
          <a:blip r:embed="rId10"/>
          <a:srcRect l="402" b="25763"/>
          <a:stretch/>
        </p:blipFill>
        <p:spPr>
          <a:xfrm>
            <a:off x="7323303" y="3038551"/>
            <a:ext cx="6625698" cy="3097916"/>
          </a:xfrm>
          <a:prstGeom prst="rect">
            <a:avLst/>
          </a:prstGeom>
        </p:spPr>
      </p:pic>
      <p:pic>
        <p:nvPicPr>
          <p:cNvPr id="44" name="Picture 43">
            <a:extLst>
              <a:ext uri="{FF2B5EF4-FFF2-40B4-BE49-F238E27FC236}">
                <a16:creationId xmlns:a16="http://schemas.microsoft.com/office/drawing/2014/main" id="{DC940386-9FAE-4A03-B15E-25F7A61B4E7F}"/>
              </a:ext>
            </a:extLst>
          </p:cNvPr>
          <p:cNvPicPr>
            <a:picLocks noChangeAspect="1"/>
          </p:cNvPicPr>
          <p:nvPr/>
        </p:nvPicPr>
        <p:blipFill rotWithShape="1">
          <a:blip r:embed="rId11">
            <a:extLst>
              <a:ext uri="{28A0092B-C50C-407E-A947-70E740481C1C}">
                <a14:useLocalDpi xmlns:a14="http://schemas.microsoft.com/office/drawing/2010/main" val="0"/>
              </a:ext>
            </a:extLst>
          </a:blip>
          <a:srcRect l="23644" t="18639" r="21304" b="6302"/>
          <a:stretch/>
        </p:blipFill>
        <p:spPr>
          <a:xfrm>
            <a:off x="7885377" y="11046404"/>
            <a:ext cx="4993857" cy="38280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218</TotalTime>
  <Words>1001</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Tahoma</vt:lpstr>
      <vt:lpstr>Times New Roman</vt:lpstr>
      <vt:lpstr>Verdana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Toufiq Musah</dc:creator>
  <cp:lastModifiedBy>HP</cp:lastModifiedBy>
  <cp:revision>2</cp:revision>
  <dcterms:created xsi:type="dcterms:W3CDTF">2024-07-21T12:44:06Z</dcterms:created>
  <dcterms:modified xsi:type="dcterms:W3CDTF">2024-07-22T21:03:49Z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2024-07-19T00:00:00Z</vt:filetime>
  </property>
  <property fmtid="{D5CDD505-2E9C-101B-9397-08002B2CF9AE}" pid="3" name="Creator">
    <vt:lpwstr>Microsoft® PowerPoint® 2016</vt:lpwstr>
  </property>
  <property fmtid="{D5CDD505-2E9C-101B-9397-08002B2CF9AE}" pid="4" name="LastSaved">
    <vt:filetime>2024-07-21T00:00:00Z</vt:filetime>
  </property>
  <property fmtid="{D5CDD505-2E9C-101B-9397-08002B2CF9AE}" pid="5" name="Producer">
    <vt:lpwstr>Microsoft® PowerPoint® 2016</vt:lpwstr>
  </property>
</Properties>
</file>